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230368"/>
            <a:ext cx="12191695" cy="54864"/>
          </a:xfrm>
          <a:prstGeom prst="rect">
            <a:avLst/>
          </a:prstGeom>
          <a:solidFill>
            <a:srgbClr val="2F6F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777240"/>
            <a:ext cx="9144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Malgun Gothic"/>
              </a:rPr>
              <a:t>YOUHOST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148840"/>
            <a:ext cx="1060704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4600" b="1">
                <a:solidFill>
                  <a:srgbClr val="FFFFFF"/>
                </a:solidFill>
                <a:latin typeface="Malgun Gothic"/>
              </a:rPr>
              <a:t>FEMS 원격 모니터링 시스템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429000"/>
            <a:ext cx="106070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200" b="1">
                <a:solidFill>
                  <a:srgbClr val="3D8FD1"/>
                </a:solidFill>
                <a:latin typeface="Malgun Gothic"/>
              </a:rPr>
              <a:t>수신율·정합성 기반 통합 관제 · 프로그램 소개서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4343400"/>
            <a:ext cx="10058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500" b="0">
                <a:solidFill>
                  <a:srgbClr val="C7D3E6"/>
                </a:solidFill>
                <a:latin typeface="Malgun Gothic"/>
              </a:rPr>
              <a:t>다수 사업장의 계측 데이터를 실시간으로 감시하고, 이상을 자동으로 분류·알림하며,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500" b="0">
                <a:solidFill>
                  <a:srgbClr val="C7D3E6"/>
                </a:solidFill>
                <a:latin typeface="Malgun Gothic"/>
              </a:rPr>
              <a:t>이력 분석으로 예방정비까지 연결하는 통합 관제 솔루션입니다.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53212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>
                <a:solidFill>
                  <a:srgbClr val="9FB0CC"/>
                </a:solidFill>
                <a:latin typeface="Malgun Gothic"/>
              </a:rPr>
              <a:t>대상 : 앰코테크놀로지  ·  제공 : 유호스트(YouHost)  ·  기반 : FEMS SLA 제안서 12~13p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2F6F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82880"/>
            <a:ext cx="9601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3D8FD1"/>
                </a:solidFill>
                <a:latin typeface="Malgun Gothic"/>
              </a:rPr>
              <a:t>WHY  ·  도입 배경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57200"/>
            <a:ext cx="107899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Malgun Gothic"/>
              </a:rPr>
              <a:t>왜 이 시스템이 필요한가요?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325880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450" b="0">
                <a:solidFill>
                  <a:srgbClr val="1F2937"/>
                </a:solidFill>
                <a:latin typeface="Malgun Gothic"/>
              </a:rPr>
              <a:t>공장 에너지 관리(FEMS)의 계측 데이터는 양이 많고 24시간 발생하지만, 사람이 모든 값을 실시간으로 확인하기는 어렵습니다.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286000"/>
            <a:ext cx="3611880" cy="3017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286000"/>
            <a:ext cx="3611880" cy="128016"/>
          </a:xfrm>
          <a:prstGeom prst="rect">
            <a:avLst/>
          </a:prstGeom>
          <a:solidFill>
            <a:srgbClr val="E24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651760"/>
            <a:ext cx="30175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650" b="1">
                <a:solidFill>
                  <a:srgbClr val="1F2937"/>
                </a:solidFill>
                <a:latin typeface="Malgun Gothic"/>
              </a:rPr>
              <a:t>데이터가 안 들어와도 모른다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611880"/>
            <a:ext cx="30175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300" b="0">
                <a:solidFill>
                  <a:srgbClr val="5B6B82"/>
                </a:solidFill>
                <a:latin typeface="Malgun Gothic"/>
              </a:rPr>
              <a:t>계측기·통신 장애로 데이터가 일부만 수신되거나 끊겨도 즉시 인지가 어렵습니다.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25112" y="2286000"/>
            <a:ext cx="3611880" cy="3017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25112" y="2286000"/>
            <a:ext cx="3611880" cy="128016"/>
          </a:xfrm>
          <a:prstGeom prst="rect">
            <a:avLst/>
          </a:prstGeom>
          <a:solidFill>
            <a:srgbClr val="E087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45151" y="2651760"/>
            <a:ext cx="30175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650" b="1">
                <a:solidFill>
                  <a:srgbClr val="1F2937"/>
                </a:solidFill>
                <a:latin typeface="Malgun Gothic"/>
              </a:rPr>
              <a:t>이상값을 사람이 다 못 본다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45151" y="3611880"/>
            <a:ext cx="30175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300" b="0">
                <a:solidFill>
                  <a:srgbClr val="5B6B82"/>
                </a:solidFill>
                <a:latin typeface="Malgun Gothic"/>
              </a:rPr>
              <a:t>값 고착·비정상 수치·정합성 오류가 그대로 집계되어 신뢰도가 떨어집니다.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01583" y="2286000"/>
            <a:ext cx="3611880" cy="3017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01583" y="2286000"/>
            <a:ext cx="3611880" cy="128016"/>
          </a:xfrm>
          <a:prstGeom prst="rect">
            <a:avLst/>
          </a:prstGeom>
          <a:solidFill>
            <a:srgbClr val="2F6F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21624" y="2651760"/>
            <a:ext cx="30175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650" b="1">
                <a:solidFill>
                  <a:srgbClr val="1F2937"/>
                </a:solidFill>
                <a:latin typeface="Malgun Gothic"/>
              </a:rPr>
              <a:t>설비 이상·피크를 놓친다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21624" y="3611880"/>
            <a:ext cx="30175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300" b="0">
                <a:solidFill>
                  <a:srgbClr val="5B6B82"/>
                </a:solidFill>
                <a:latin typeface="Malgun Gothic"/>
              </a:rPr>
              <a:t>가동 중단·전력 피크를 놓치면 에너지 비용·생산 차질·SLA 위반으로 직결됩니다.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5532120"/>
            <a:ext cx="11091672" cy="777240"/>
          </a:xfrm>
          <a:prstGeom prst="round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" y="5705856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Malgun Gothic"/>
              </a:rPr>
              <a:t>➜  자동 감시 · 심각도별 자동 알림 · 이력 분석으로, 놓치지 않고 빠르게 대응하는 체계가 필요합니다.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5B6B82"/>
                </a:solidFill>
                <a:latin typeface="Malgun Gothic"/>
              </a:rPr>
              <a:t>FEMS 원격 모니터링 시스템 · 프로그램 소개서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7040" y="6473952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5B6B82"/>
                </a:solidFill>
                <a:latin typeface="Malgun Gothic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2F6F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82880"/>
            <a:ext cx="9601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3D8FD1"/>
                </a:solidFill>
                <a:latin typeface="Malgun Gothic"/>
              </a:rPr>
              <a:t>OVERVIEW  ·  시스템 개요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57200"/>
            <a:ext cx="107899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Malgun Gothic"/>
              </a:rPr>
              <a:t>한눈에 보는 동작 원리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325880"/>
            <a:ext cx="11064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450" b="0">
                <a:solidFill>
                  <a:srgbClr val="1F2937"/>
                </a:solidFill>
                <a:latin typeface="Malgun Gothic"/>
              </a:rPr>
              <a:t>외부 계측 소스의 데이터를 표준 API로 받아, 3대 기준으로 판정하고, 대시보드·알림·리포트로 전달합니다.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240280"/>
            <a:ext cx="2560320" cy="1737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48640" y="2240280"/>
            <a:ext cx="2560320" cy="457200"/>
          </a:xfrm>
          <a:prstGeom prst="roundRect">
            <a:avLst/>
          </a:prstGeom>
          <a:solidFill>
            <a:srgbClr val="2F6F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304288"/>
            <a:ext cx="2560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50" b="1">
                <a:solidFill>
                  <a:srgbClr val="FFFFFF"/>
                </a:solidFill>
                <a:latin typeface="Malgun Gothic"/>
              </a:rPr>
              <a:t>계측 소스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852928"/>
            <a:ext cx="2286000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  <a:spcAft>
                <a:spcPts val="400"/>
              </a:spcAft>
            </a:pPr>
            <a:r>
              <a:rPr sz="1150" b="0">
                <a:solidFill>
                  <a:srgbClr val="5B6B82"/>
                </a:solidFill>
                <a:latin typeface="Malgun Gothic"/>
              </a:rPr>
              <a:t>전력계측기·유량계 / FEMS·게이트웨이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90672" y="2651760"/>
            <a:ext cx="3657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2000" b="1">
                <a:solidFill>
                  <a:srgbClr val="2F6FB3"/>
                </a:solidFill>
                <a:latin typeface="Malgun Gothic"/>
              </a:rPr>
              <a:t>➜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92424" y="2240280"/>
            <a:ext cx="2560320" cy="1737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392424" y="2240280"/>
            <a:ext cx="2560320" cy="457200"/>
          </a:xfrm>
          <a:prstGeom prst="roundRect">
            <a:avLst/>
          </a:prstGeom>
          <a:solidFill>
            <a:srgbClr val="3D8F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92424" y="2304288"/>
            <a:ext cx="2560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50" b="1">
                <a:solidFill>
                  <a:srgbClr val="FFFFFF"/>
                </a:solidFill>
                <a:latin typeface="Malgun Gothic"/>
              </a:rPr>
              <a:t>데이터 수집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29584" y="2852928"/>
            <a:ext cx="2286000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  <a:spcAft>
                <a:spcPts val="400"/>
              </a:spcAft>
            </a:pPr>
            <a:r>
              <a:rPr sz="1150" b="0">
                <a:solidFill>
                  <a:srgbClr val="5B6B82"/>
                </a:solidFill>
                <a:latin typeface="Malgun Gothic"/>
              </a:rPr>
              <a:t>표준 API 수신 (POST /api/ingest)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34456" y="2651760"/>
            <a:ext cx="3657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2000" b="1">
                <a:solidFill>
                  <a:srgbClr val="2F6FB3"/>
                </a:solidFill>
                <a:latin typeface="Malgun Gothic"/>
              </a:rPr>
              <a:t>➜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36208" y="2240280"/>
            <a:ext cx="2560320" cy="1737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236208" y="2240280"/>
            <a:ext cx="2560320" cy="457200"/>
          </a:xfrm>
          <a:prstGeom prst="roundRect">
            <a:avLst/>
          </a:prstGeom>
          <a:solidFill>
            <a:srgbClr val="223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36208" y="2304288"/>
            <a:ext cx="2560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50" b="1">
                <a:solidFill>
                  <a:srgbClr val="FFFFFF"/>
                </a:solidFill>
                <a:latin typeface="Malgun Gothic"/>
              </a:rPr>
              <a:t>판정 엔진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73368" y="2852928"/>
            <a:ext cx="2286000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  <a:spcAft>
                <a:spcPts val="400"/>
              </a:spcAft>
            </a:pPr>
            <a:r>
              <a:rPr sz="1150" b="0">
                <a:solidFill>
                  <a:srgbClr val="5B6B82"/>
                </a:solidFill>
                <a:latin typeface="Malgun Gothic"/>
              </a:rPr>
              <a:t>수신율·정합성·전력피크/Zero 실시간 판정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78240" y="2651760"/>
            <a:ext cx="3657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2000" b="1">
                <a:solidFill>
                  <a:srgbClr val="2F6FB3"/>
                </a:solidFill>
                <a:latin typeface="Malgun Gothic"/>
              </a:rPr>
              <a:t>➜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079992" y="2240280"/>
            <a:ext cx="2560320" cy="1737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9079992" y="2240280"/>
            <a:ext cx="2560320" cy="457200"/>
          </a:xfrm>
          <a:prstGeom prst="roundRect">
            <a:avLst/>
          </a:prstGeom>
          <a:solidFill>
            <a:srgbClr val="1FA5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079992" y="2304288"/>
            <a:ext cx="2560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50" b="1">
                <a:solidFill>
                  <a:srgbClr val="FFFFFF"/>
                </a:solidFill>
                <a:latin typeface="Malgun Gothic"/>
              </a:rPr>
              <a:t>관제·알림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17152" y="2852928"/>
            <a:ext cx="2286000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  <a:spcAft>
                <a:spcPts val="400"/>
              </a:spcAft>
            </a:pPr>
            <a:r>
              <a:rPr sz="1150" b="0">
                <a:solidFill>
                  <a:srgbClr val="5B6B82"/>
                </a:solidFill>
                <a:latin typeface="Malgun Gothic"/>
              </a:rPr>
              <a:t>통합 대시보드 · 자동 알림 · 이력 리포트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8640" y="4343400"/>
            <a:ext cx="361188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48640" y="4343400"/>
            <a:ext cx="128016" cy="1600200"/>
          </a:xfrm>
          <a:prstGeom prst="rect">
            <a:avLst/>
          </a:prstGeom>
          <a:solidFill>
            <a:srgbClr val="2F6F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68680" y="4617720"/>
            <a:ext cx="3017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50" b="1">
                <a:solidFill>
                  <a:srgbClr val="1F2937"/>
                </a:solidFill>
                <a:latin typeface="Malgun Gothic"/>
              </a:rPr>
              <a:t>① 수신율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8680" y="5166360"/>
            <a:ext cx="3063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50" b="0">
                <a:solidFill>
                  <a:srgbClr val="5B6B82"/>
                </a:solidFill>
                <a:latin typeface="Malgun Gothic"/>
              </a:rPr>
              <a:t>정상수신 ÷ 전체등록 × 100 · 목표 95~100%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325112" y="4343400"/>
            <a:ext cx="361188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325112" y="4343400"/>
            <a:ext cx="128016" cy="1600200"/>
          </a:xfrm>
          <a:prstGeom prst="rect">
            <a:avLst/>
          </a:prstGeom>
          <a:solidFill>
            <a:srgbClr val="E087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645151" y="4617720"/>
            <a:ext cx="3017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50" b="1">
                <a:solidFill>
                  <a:srgbClr val="1F2937"/>
                </a:solidFill>
                <a:latin typeface="Malgun Gothic"/>
              </a:rPr>
              <a:t>② 데이터 정합성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645151" y="5166360"/>
            <a:ext cx="3063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50" b="0">
                <a:solidFill>
                  <a:srgbClr val="5B6B82"/>
                </a:solidFill>
                <a:latin typeface="Malgun Gothic"/>
              </a:rPr>
              <a:t>동일값 지속·비정상 수치·데이터 끊김 검증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101583" y="4343400"/>
            <a:ext cx="361188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101583" y="4343400"/>
            <a:ext cx="128016" cy="1600200"/>
          </a:xfrm>
          <a:prstGeom prst="rect">
            <a:avLst/>
          </a:prstGeom>
          <a:solidFill>
            <a:srgbClr val="E24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421624" y="4617720"/>
            <a:ext cx="3017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50" b="1">
                <a:solidFill>
                  <a:srgbClr val="1F2937"/>
                </a:solidFill>
                <a:latin typeface="Malgun Gothic"/>
              </a:rPr>
              <a:t>③ 전력 피크·설비 가동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421624" y="5166360"/>
            <a:ext cx="3063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50" b="0">
                <a:solidFill>
                  <a:srgbClr val="5B6B82"/>
                </a:solidFill>
                <a:latin typeface="Malgun Gothic"/>
              </a:rPr>
              <a:t>계약전력 피크·유효전력 Zero(가동중단) 검출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5B6B82"/>
                </a:solidFill>
                <a:latin typeface="Malgun Gothic"/>
              </a:rPr>
              <a:t>FEMS 원격 모니터링 시스템 · 프로그램 소개서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607040" y="6473952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5B6B82"/>
                </a:solidFill>
                <a:latin typeface="Malgun Gothic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2F6F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82880"/>
            <a:ext cx="9601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3D8FD1"/>
                </a:solidFill>
                <a:latin typeface="Malgun Gothic"/>
              </a:rPr>
              <a:t>FEATURES  ·  핵심 기능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57200"/>
            <a:ext cx="107899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Malgun Gothic"/>
              </a:rPr>
              <a:t>5가지 핵심 기능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17320"/>
            <a:ext cx="3611880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22959" y="1709928"/>
            <a:ext cx="566928" cy="566928"/>
          </a:xfrm>
          <a:prstGeom prst="roundRect">
            <a:avLst/>
          </a:prstGeom>
          <a:solidFill>
            <a:srgbClr val="2F6F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59" y="1801368"/>
            <a:ext cx="56692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Malgun Gothi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1728216"/>
            <a:ext cx="24231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50" b="1">
                <a:solidFill>
                  <a:srgbClr val="1F2937"/>
                </a:solidFill>
                <a:latin typeface="Malgun Gothic"/>
              </a:rPr>
              <a:t>통합 현황 &amp; 전국 지도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7" y="2651760"/>
            <a:ext cx="3063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50" b="0">
                <a:solidFill>
                  <a:srgbClr val="5B6B82"/>
                </a:solidFill>
                <a:latin typeface="Malgun Gothic"/>
              </a:rPr>
              <a:t>전 사업장을 한 화면·한 지도에서 실시간 파악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25112" y="1417320"/>
            <a:ext cx="3611880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599431" y="1709928"/>
            <a:ext cx="566928" cy="566928"/>
          </a:xfrm>
          <a:prstGeom prst="roundRect">
            <a:avLst/>
          </a:prstGeom>
          <a:solidFill>
            <a:srgbClr val="2F6F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99431" y="1801368"/>
            <a:ext cx="56692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Malgun Gothi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30952" y="1728216"/>
            <a:ext cx="24231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50" b="1">
                <a:solidFill>
                  <a:srgbClr val="1F2937"/>
                </a:solidFill>
                <a:latin typeface="Malgun Gothic"/>
              </a:rPr>
              <a:t>사업장별 상세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17720" y="2651760"/>
            <a:ext cx="3063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50" b="0">
                <a:solidFill>
                  <a:srgbClr val="5B6B82"/>
                </a:solidFill>
                <a:latin typeface="Malgun Gothic"/>
              </a:rPr>
              <a:t>설비/계측기 단위 현황과 원인 추적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01583" y="1417320"/>
            <a:ext cx="3611880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375904" y="1709928"/>
            <a:ext cx="566928" cy="566928"/>
          </a:xfrm>
          <a:prstGeom prst="roundRect">
            <a:avLst/>
          </a:prstGeom>
          <a:solidFill>
            <a:srgbClr val="2F6F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75904" y="1801368"/>
            <a:ext cx="56692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Malgun Gothi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07424" y="1728216"/>
            <a:ext cx="24231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50" b="1">
                <a:solidFill>
                  <a:srgbClr val="1F2937"/>
                </a:solidFill>
                <a:latin typeface="Malgun Gothic"/>
              </a:rPr>
              <a:t>알림 센터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94192" y="2651760"/>
            <a:ext cx="3063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50" b="0">
                <a:solidFill>
                  <a:srgbClr val="5B6B82"/>
                </a:solidFill>
                <a:latin typeface="Malgun Gothic"/>
              </a:rPr>
              <a:t>4대 유형·4단계 레벨 분류 + 자동 발송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3931920"/>
            <a:ext cx="3611880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22959" y="4224528"/>
            <a:ext cx="566928" cy="566928"/>
          </a:xfrm>
          <a:prstGeom prst="roundRect">
            <a:avLst/>
          </a:prstGeom>
          <a:solidFill>
            <a:srgbClr val="2F6F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59" y="4315968"/>
            <a:ext cx="56692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Malgun Gothic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54480" y="4242816"/>
            <a:ext cx="24231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50" b="1">
                <a:solidFill>
                  <a:srgbClr val="1F2937"/>
                </a:solidFill>
                <a:latin typeface="Malgun Gothic"/>
              </a:rPr>
              <a:t>이력·리포트 &amp; 예방정비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1247" y="5166360"/>
            <a:ext cx="3063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50" b="0">
                <a:solidFill>
                  <a:srgbClr val="5B6B82"/>
                </a:solidFill>
                <a:latin typeface="Malgun Gothic"/>
              </a:rPr>
              <a:t>추이 분석·재발 패턴·리포트 자동 생성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325112" y="3931920"/>
            <a:ext cx="3611880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4599431" y="4224528"/>
            <a:ext cx="566928" cy="566928"/>
          </a:xfrm>
          <a:prstGeom prst="roundRect">
            <a:avLst/>
          </a:prstGeom>
          <a:solidFill>
            <a:srgbClr val="2F6F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99431" y="4315968"/>
            <a:ext cx="56692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Malgun Gothic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330952" y="4242816"/>
            <a:ext cx="24231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50" b="1">
                <a:solidFill>
                  <a:srgbClr val="1F2937"/>
                </a:solidFill>
                <a:latin typeface="Malgun Gothic"/>
              </a:rPr>
              <a:t>로그인·권한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17720" y="5166360"/>
            <a:ext cx="3063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50" b="0">
                <a:solidFill>
                  <a:srgbClr val="5B6B82"/>
                </a:solidFill>
                <a:latin typeface="Malgun Gothic"/>
              </a:rPr>
              <a:t>관제자/고객사 역할 분리 · 고객 투명 조회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101583" y="3931920"/>
            <a:ext cx="3611880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8375904" y="4224528"/>
            <a:ext cx="566928" cy="566928"/>
          </a:xfrm>
          <a:prstGeom prst="roundRect">
            <a:avLst/>
          </a:prstGeom>
          <a:solidFill>
            <a:srgbClr val="2F6F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375904" y="4315968"/>
            <a:ext cx="56692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Malgun Gothic"/>
              </a:rPr>
              <a:t>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07424" y="4242816"/>
            <a:ext cx="24231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50" b="1">
                <a:solidFill>
                  <a:srgbClr val="1F2937"/>
                </a:solidFill>
                <a:latin typeface="Malgun Gothic"/>
              </a:rPr>
              <a:t>표준 데이터 연동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94192" y="5166360"/>
            <a:ext cx="3063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50" b="0">
                <a:solidFill>
                  <a:srgbClr val="5B6B82"/>
                </a:solidFill>
                <a:latin typeface="Malgun Gothic"/>
              </a:rPr>
              <a:t>외부 소스 프로그램을 API 한 지점으로 연결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5B6B82"/>
                </a:solidFill>
                <a:latin typeface="Malgun Gothic"/>
              </a:rPr>
              <a:t>FEMS 원격 모니터링 시스템 · 프로그램 소개서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7040" y="6473952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5B6B82"/>
                </a:solidFill>
                <a:latin typeface="Malgun Gothic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2F6F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82880"/>
            <a:ext cx="9601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3D8FD1"/>
                </a:solidFill>
                <a:latin typeface="Malgun Gothic"/>
              </a:rPr>
              <a:t>FEATURE 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57200"/>
            <a:ext cx="107899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Malgun Gothic"/>
              </a:rPr>
              <a:t>통합 현황 &amp; 전국 사업장 지도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274320"/>
            <a:ext cx="8229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3000" b="1">
                <a:solidFill>
                  <a:srgbClr val="3A4B6B"/>
                </a:solidFill>
                <a:latin typeface="Malgun Gothic"/>
              </a:rPr>
              <a:t>01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371600"/>
            <a:ext cx="489204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600200"/>
            <a:ext cx="4389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>
                <a:solidFill>
                  <a:srgbClr val="2F6FB3"/>
                </a:solidFill>
                <a:latin typeface="Malgun Gothic"/>
              </a:rPr>
              <a:t>무엇을 하나요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011680"/>
            <a:ext cx="438912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250" b="1">
                <a:solidFill>
                  <a:srgbClr val="2F6FB3"/>
                </a:solidFill>
                <a:latin typeface="Malgun Gothic"/>
              </a:rPr>
              <a:t>•  </a:t>
            </a:r>
            <a:r>
              <a:rPr sz="1250">
                <a:solidFill>
                  <a:srgbClr val="1F2937"/>
                </a:solidFill>
                <a:latin typeface="Malgun Gothic"/>
              </a:rPr>
              <a:t>K5·K3·K4 전 사업장의 수신율·정합성·SLA를 한 화면 요약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250" b="1">
                <a:solidFill>
                  <a:srgbClr val="2F6FB3"/>
                </a:solidFill>
                <a:latin typeface="Malgun Gothic"/>
              </a:rPr>
              <a:t>•  </a:t>
            </a:r>
            <a:r>
              <a:rPr sz="1250">
                <a:solidFill>
                  <a:srgbClr val="1F2937"/>
                </a:solidFill>
                <a:latin typeface="Malgun Gothic"/>
              </a:rPr>
              <a:t>전국 지도에 사업장 위치·상태를 색으로 표시, 이상 시 마커 점멸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250" b="1">
                <a:solidFill>
                  <a:srgbClr val="2F6FB3"/>
                </a:solidFill>
                <a:latin typeface="Malgun Gothic"/>
              </a:rPr>
              <a:t>•  </a:t>
            </a:r>
            <a:r>
              <a:rPr sz="1250">
                <a:solidFill>
                  <a:srgbClr val="1F2937"/>
                </a:solidFill>
                <a:latin typeface="Malgun Gothic"/>
              </a:rPr>
              <a:t>지도·목록 클릭으로 해당 사업장 상세로 즉시 이동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703320"/>
            <a:ext cx="4892040" cy="2468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3703320"/>
            <a:ext cx="128016" cy="2468880"/>
          </a:xfrm>
          <a:prstGeom prst="rect">
            <a:avLst/>
          </a:prstGeom>
          <a:solidFill>
            <a:srgbClr val="1FA5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3931920"/>
            <a:ext cx="4389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>
                <a:solidFill>
                  <a:srgbClr val="1FA564"/>
                </a:solidFill>
                <a:latin typeface="Malgun Gothic"/>
              </a:rPr>
              <a:t>왜 넣었나요 (도입 가치)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370832"/>
            <a:ext cx="4389120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250" b="1">
                <a:solidFill>
                  <a:srgbClr val="1FA564"/>
                </a:solidFill>
                <a:latin typeface="Malgun Gothic"/>
              </a:rPr>
              <a:t>•  </a:t>
            </a:r>
            <a:r>
              <a:rPr sz="1250">
                <a:solidFill>
                  <a:srgbClr val="1F2937"/>
                </a:solidFill>
                <a:latin typeface="Malgun Gothic"/>
              </a:rPr>
              <a:t>여러 사업장을 개별 확인하면 누락·지연 발생 → 통합 감시로 관제 효율 극대화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250" b="1">
                <a:solidFill>
                  <a:srgbClr val="1FA564"/>
                </a:solidFill>
                <a:latin typeface="Malgun Gothic"/>
              </a:rPr>
              <a:t>•  </a:t>
            </a:r>
            <a:r>
              <a:rPr sz="1250">
                <a:solidFill>
                  <a:srgbClr val="1F2937"/>
                </a:solidFill>
                <a:latin typeface="Malgun Gothic"/>
              </a:rPr>
              <a:t>이상을 한눈에 조기 발견해 초동 대응 시간을 단축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41848" y="1937258"/>
            <a:ext cx="6044183" cy="3715003"/>
          </a:xfrm>
          <a:prstGeom prst="rect">
            <a:avLst/>
          </a:prstGeom>
          <a:solidFill>
            <a:srgbClr val="FFFFFF"/>
          </a:solidFill>
          <a:ln w="12700">
            <a:solidFill>
              <a:srgbClr val="DD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02-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0" y="1964690"/>
            <a:ext cx="5989320" cy="3660139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5669280" y="6263640"/>
            <a:ext cx="5989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950" b="0">
                <a:solidFill>
                  <a:srgbClr val="5B6B82"/>
                </a:solidFill>
                <a:latin typeface="Malgun Gothic"/>
              </a:rPr>
              <a:t>실제 화면 · 관제자 로그인 후 통합 현황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5B6B82"/>
                </a:solidFill>
                <a:latin typeface="Malgun Gothic"/>
              </a:rPr>
              <a:t>FEMS 원격 모니터링 시스템 · 프로그램 소개서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7040" y="6473952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5B6B82"/>
                </a:solidFill>
                <a:latin typeface="Malgun Gothic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2F6F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82880"/>
            <a:ext cx="9601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3D8FD1"/>
                </a:solidFill>
                <a:latin typeface="Malgun Gothic"/>
              </a:rPr>
              <a:t>FEATURE 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57200"/>
            <a:ext cx="107899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Malgun Gothic"/>
              </a:rPr>
              <a:t>사업장별 상세 현황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274320"/>
            <a:ext cx="8229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3000" b="1">
                <a:solidFill>
                  <a:srgbClr val="3A4B6B"/>
                </a:solidFill>
                <a:latin typeface="Malgun Gothic"/>
              </a:rPr>
              <a:t>02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371600"/>
            <a:ext cx="489204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600200"/>
            <a:ext cx="4389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>
                <a:solidFill>
                  <a:srgbClr val="2F6FB3"/>
                </a:solidFill>
                <a:latin typeface="Malgun Gothic"/>
              </a:rPr>
              <a:t>무엇을 하나요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011680"/>
            <a:ext cx="438912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250" b="1">
                <a:solidFill>
                  <a:srgbClr val="2F6FB3"/>
                </a:solidFill>
                <a:latin typeface="Malgun Gothic"/>
              </a:rPr>
              <a:t>•  </a:t>
            </a:r>
            <a:r>
              <a:rPr sz="1250">
                <a:solidFill>
                  <a:srgbClr val="1F2937"/>
                </a:solidFill>
                <a:latin typeface="Malgun Gothic"/>
              </a:rPr>
              <a:t>사업장 선택 시 설비/계측기 단위 현재값·누적값·수신 상태 표시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250" b="1">
                <a:solidFill>
                  <a:srgbClr val="2F6FB3"/>
                </a:solidFill>
                <a:latin typeface="Malgun Gothic"/>
              </a:rPr>
              <a:t>•  </a:t>
            </a:r>
            <a:r>
              <a:rPr sz="1250">
                <a:solidFill>
                  <a:srgbClr val="1F2937"/>
                </a:solidFill>
                <a:latin typeface="Malgun Gothic"/>
              </a:rPr>
              <a:t>해당 사업장의 활성 알림을 심각도와 함께 한 화면에 정리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703320"/>
            <a:ext cx="4892040" cy="2468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3703320"/>
            <a:ext cx="128016" cy="2468880"/>
          </a:xfrm>
          <a:prstGeom prst="rect">
            <a:avLst/>
          </a:prstGeom>
          <a:solidFill>
            <a:srgbClr val="1FA5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3931920"/>
            <a:ext cx="4389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>
                <a:solidFill>
                  <a:srgbClr val="1FA564"/>
                </a:solidFill>
                <a:latin typeface="Malgun Gothic"/>
              </a:rPr>
              <a:t>왜 넣었나요 (도입 가치)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370832"/>
            <a:ext cx="4389120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250" b="1">
                <a:solidFill>
                  <a:srgbClr val="1FA564"/>
                </a:solidFill>
                <a:latin typeface="Malgun Gothic"/>
              </a:rPr>
              <a:t>•  </a:t>
            </a:r>
            <a:r>
              <a:rPr sz="1250">
                <a:solidFill>
                  <a:srgbClr val="1F2937"/>
                </a:solidFill>
                <a:latin typeface="Malgun Gothic"/>
              </a:rPr>
              <a:t>이상의 원인을 설비 단위로 빠르게 좁혀 조치 시간 단축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250" b="1">
                <a:solidFill>
                  <a:srgbClr val="1FA564"/>
                </a:solidFill>
                <a:latin typeface="Malgun Gothic"/>
              </a:rPr>
              <a:t>•  </a:t>
            </a:r>
            <a:r>
              <a:rPr sz="1250">
                <a:solidFill>
                  <a:srgbClr val="1F2937"/>
                </a:solidFill>
                <a:latin typeface="Malgun Gothic"/>
              </a:rPr>
              <a:t>고객·현장이 같은 화면을 보며 소통 — 커뮤니케이션 비용 절감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41848" y="1937258"/>
            <a:ext cx="6044183" cy="3715003"/>
          </a:xfrm>
          <a:prstGeom prst="rect">
            <a:avLst/>
          </a:prstGeom>
          <a:solidFill>
            <a:srgbClr val="FFFFFF"/>
          </a:solidFill>
          <a:ln w="12700">
            <a:solidFill>
              <a:srgbClr val="DD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03-sit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0" y="1964690"/>
            <a:ext cx="5989320" cy="3660139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5669280" y="6263640"/>
            <a:ext cx="5989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950" b="0">
                <a:solidFill>
                  <a:srgbClr val="5B6B82"/>
                </a:solidFill>
                <a:latin typeface="Malgun Gothic"/>
              </a:rPr>
              <a:t>실제 화면 · K5 사업장 상세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5B6B82"/>
                </a:solidFill>
                <a:latin typeface="Malgun Gothic"/>
              </a:rPr>
              <a:t>FEMS 원격 모니터링 시스템 · 프로그램 소개서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7040" y="6473952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5B6B82"/>
                </a:solidFill>
                <a:latin typeface="Malgun Gothic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2F6F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82880"/>
            <a:ext cx="9601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3D8FD1"/>
                </a:solidFill>
                <a:latin typeface="Malgun Gothic"/>
              </a:rPr>
              <a:t>FEATURE 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57200"/>
            <a:ext cx="107899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Malgun Gothic"/>
              </a:rPr>
              <a:t>알림 센터 · 심각도 자동 분류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274320"/>
            <a:ext cx="8229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3000" b="1">
                <a:solidFill>
                  <a:srgbClr val="3A4B6B"/>
                </a:solidFill>
                <a:latin typeface="Malgun Gothic"/>
              </a:rPr>
              <a:t>03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371600"/>
            <a:ext cx="489204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600200"/>
            <a:ext cx="4389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>
                <a:solidFill>
                  <a:srgbClr val="2F6FB3"/>
                </a:solidFill>
                <a:latin typeface="Malgun Gothic"/>
              </a:rPr>
              <a:t>무엇을 하나요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011680"/>
            <a:ext cx="438912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250" b="1">
                <a:solidFill>
                  <a:srgbClr val="2F6FB3"/>
                </a:solidFill>
                <a:latin typeface="Malgun Gothic"/>
              </a:rPr>
              <a:t>•  </a:t>
            </a:r>
            <a:r>
              <a:rPr sz="1250">
                <a:solidFill>
                  <a:srgbClr val="1F2937"/>
                </a:solidFill>
                <a:latin typeface="Malgun Gothic"/>
              </a:rPr>
              <a:t>모든 알림을 4대 유형(정상·수신 비정상·전력 피크·설비 가동 이상)으로 분류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250" b="1">
                <a:solidFill>
                  <a:srgbClr val="2F6FB3"/>
                </a:solidFill>
                <a:latin typeface="Malgun Gothic"/>
              </a:rPr>
              <a:t>•  </a:t>
            </a:r>
            <a:r>
              <a:rPr sz="1250">
                <a:solidFill>
                  <a:srgbClr val="1F2937"/>
                </a:solidFill>
                <a:latin typeface="Malgun Gothic"/>
              </a:rPr>
              <a:t>4단계 레벨(긴급/경고/정보/정상)로 자동 등급화, 필터·검색·상세 추이 제공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250" b="1">
                <a:solidFill>
                  <a:srgbClr val="2F6FB3"/>
                </a:solidFill>
                <a:latin typeface="Malgun Gothic"/>
              </a:rPr>
              <a:t>•  </a:t>
            </a:r>
            <a:r>
              <a:rPr sz="1250">
                <a:solidFill>
                  <a:srgbClr val="1F2937"/>
                </a:solidFill>
                <a:latin typeface="Malgun Gothic"/>
              </a:rPr>
              <a:t>심각도별 SMS·메신저·이메일 차등 자동 발송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703320"/>
            <a:ext cx="4892040" cy="2468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3703320"/>
            <a:ext cx="128016" cy="2468880"/>
          </a:xfrm>
          <a:prstGeom prst="rect">
            <a:avLst/>
          </a:prstGeom>
          <a:solidFill>
            <a:srgbClr val="1FA5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3931920"/>
            <a:ext cx="4389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>
                <a:solidFill>
                  <a:srgbClr val="1FA564"/>
                </a:solidFill>
                <a:latin typeface="Malgun Gothic"/>
              </a:rPr>
              <a:t>왜 넣었나요 (도입 가치)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370832"/>
            <a:ext cx="4389120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250" b="1">
                <a:solidFill>
                  <a:srgbClr val="1FA564"/>
                </a:solidFill>
                <a:latin typeface="Malgun Gothic"/>
              </a:rPr>
              <a:t>•  </a:t>
            </a:r>
            <a:r>
              <a:rPr sz="1250">
                <a:solidFill>
                  <a:srgbClr val="1F2937"/>
                </a:solidFill>
                <a:latin typeface="Malgun Gothic"/>
              </a:rPr>
              <a:t>알림이 뒤섞이면 우선순위 판단이 어려움 → 즉시 대응/참고 대상을 명확히 구분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250" b="1">
                <a:solidFill>
                  <a:srgbClr val="1FA564"/>
                </a:solidFill>
                <a:latin typeface="Malgun Gothic"/>
              </a:rPr>
              <a:t>•  </a:t>
            </a:r>
            <a:r>
              <a:rPr sz="1250">
                <a:solidFill>
                  <a:srgbClr val="1F2937"/>
                </a:solidFill>
                <a:latin typeface="Malgun Gothic"/>
              </a:rPr>
              <a:t>놓치기 쉬운 이상을 자동으로 담당자에게 전달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830349" y="1389888"/>
            <a:ext cx="5667181" cy="4809744"/>
          </a:xfrm>
          <a:prstGeom prst="rect">
            <a:avLst/>
          </a:prstGeom>
          <a:solidFill>
            <a:srgbClr val="FFFFFF"/>
          </a:solidFill>
          <a:ln w="12700">
            <a:solidFill>
              <a:srgbClr val="DD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04-alarm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7781" y="1417320"/>
            <a:ext cx="5612317" cy="475488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5669280" y="6263640"/>
            <a:ext cx="5989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950" b="0">
                <a:solidFill>
                  <a:srgbClr val="5B6B82"/>
                </a:solidFill>
                <a:latin typeface="Malgun Gothic"/>
              </a:rPr>
              <a:t>실제 화면 · 알림 센터 + 상세 패널(추이 그래프·조치)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5B6B82"/>
                </a:solidFill>
                <a:latin typeface="Malgun Gothic"/>
              </a:rPr>
              <a:t>FEMS 원격 모니터링 시스템 · 프로그램 소개서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7040" y="6473952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5B6B82"/>
                </a:solidFill>
                <a:latin typeface="Malgun Gothic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2F6F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82880"/>
            <a:ext cx="9601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3D8FD1"/>
                </a:solidFill>
                <a:latin typeface="Malgun Gothic"/>
              </a:rPr>
              <a:t>FEATURE 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57200"/>
            <a:ext cx="107899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Malgun Gothic"/>
              </a:rPr>
              <a:t>이력·리포트 &amp; 예방정비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274320"/>
            <a:ext cx="8229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3000" b="1">
                <a:solidFill>
                  <a:srgbClr val="3A4B6B"/>
                </a:solidFill>
                <a:latin typeface="Malgun Gothic"/>
              </a:rPr>
              <a:t>04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371600"/>
            <a:ext cx="489204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600200"/>
            <a:ext cx="4389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>
                <a:solidFill>
                  <a:srgbClr val="2F6FB3"/>
                </a:solidFill>
                <a:latin typeface="Malgun Gothic"/>
              </a:rPr>
              <a:t>무엇을 하나요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011680"/>
            <a:ext cx="438912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250" b="1">
                <a:solidFill>
                  <a:srgbClr val="2F6FB3"/>
                </a:solidFill>
                <a:latin typeface="Malgun Gothic"/>
              </a:rPr>
              <a:t>•  </a:t>
            </a:r>
            <a:r>
              <a:rPr sz="1250">
                <a:solidFill>
                  <a:srgbClr val="1F2937"/>
                </a:solidFill>
                <a:latin typeface="Malgun Gothic"/>
              </a:rPr>
              <a:t>24시간 수신율 추이·재발 상위 설비·유형별 분포를 차트로 자동 생성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250" b="1">
                <a:solidFill>
                  <a:srgbClr val="2F6FB3"/>
                </a:solidFill>
                <a:latin typeface="Malgun Gothic"/>
              </a:rPr>
              <a:t>•  </a:t>
            </a:r>
            <a:r>
              <a:rPr sz="1250">
                <a:solidFill>
                  <a:srgbClr val="1F2937"/>
                </a:solidFill>
                <a:latin typeface="Malgun Gothic"/>
              </a:rPr>
              <a:t>재발 패턴 기반 예방정비 권고 자동 도출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250" b="1">
                <a:solidFill>
                  <a:srgbClr val="2F6FB3"/>
                </a:solidFill>
                <a:latin typeface="Malgun Gothic"/>
              </a:rPr>
              <a:t>•  </a:t>
            </a:r>
            <a:r>
              <a:rPr sz="1250">
                <a:solidFill>
                  <a:srgbClr val="1F2937"/>
                </a:solidFill>
                <a:latin typeface="Malgun Gothic"/>
              </a:rPr>
              <a:t>Excel(CSV)·PDF 리포트 내보내기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703320"/>
            <a:ext cx="4892040" cy="2468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3703320"/>
            <a:ext cx="128016" cy="2468880"/>
          </a:xfrm>
          <a:prstGeom prst="rect">
            <a:avLst/>
          </a:prstGeom>
          <a:solidFill>
            <a:srgbClr val="1FA5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3931920"/>
            <a:ext cx="4389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>
                <a:solidFill>
                  <a:srgbClr val="1FA564"/>
                </a:solidFill>
                <a:latin typeface="Malgun Gothic"/>
              </a:rPr>
              <a:t>왜 넣었나요 (도입 가치)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370832"/>
            <a:ext cx="4389120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250" b="1">
                <a:solidFill>
                  <a:srgbClr val="1FA564"/>
                </a:solidFill>
                <a:latin typeface="Malgun Gothic"/>
              </a:rPr>
              <a:t>•  </a:t>
            </a:r>
            <a:r>
              <a:rPr sz="1250">
                <a:solidFill>
                  <a:srgbClr val="1F2937"/>
                </a:solidFill>
                <a:latin typeface="Malgun Gothic"/>
              </a:rPr>
              <a:t>사후 대응을 넘어 사전 예방으로 — 반복 장애를 데이터로 식별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250" b="1">
                <a:solidFill>
                  <a:srgbClr val="1FA564"/>
                </a:solidFill>
                <a:latin typeface="Malgun Gothic"/>
              </a:rPr>
              <a:t>•  </a:t>
            </a:r>
            <a:r>
              <a:rPr sz="1250">
                <a:solidFill>
                  <a:srgbClr val="1F2937"/>
                </a:solidFill>
                <a:latin typeface="Malgun Gothic"/>
              </a:rPr>
              <a:t>SLA 준수 현황을 정기 리포트로 자동화해 보고 부담 감소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52724" y="1389888"/>
            <a:ext cx="5222431" cy="4809744"/>
          </a:xfrm>
          <a:prstGeom prst="rect">
            <a:avLst/>
          </a:prstGeom>
          <a:solidFill>
            <a:srgbClr val="FFFFFF"/>
          </a:solidFill>
          <a:ln w="12700">
            <a:solidFill>
              <a:srgbClr val="DD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05-repor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0156" y="1417320"/>
            <a:ext cx="5167567" cy="475488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5669280" y="6263640"/>
            <a:ext cx="5989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950" b="0">
                <a:solidFill>
                  <a:srgbClr val="5B6B82"/>
                </a:solidFill>
                <a:latin typeface="Malgun Gothic"/>
              </a:rPr>
              <a:t>실제 화면 · 이력·리포트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5B6B82"/>
                </a:solidFill>
                <a:latin typeface="Malgun Gothic"/>
              </a:rPr>
              <a:t>FEMS 원격 모니터링 시스템 · 프로그램 소개서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7040" y="6473952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5B6B82"/>
                </a:solidFill>
                <a:latin typeface="Malgun Gothic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2F6F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82880"/>
            <a:ext cx="9601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3D8FD1"/>
                </a:solidFill>
                <a:latin typeface="Malgun Gothic"/>
              </a:rPr>
              <a:t>FEATURE 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57200"/>
            <a:ext cx="107899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Malgun Gothic"/>
              </a:rPr>
              <a:t>로그인 · 역할 권한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274320"/>
            <a:ext cx="8229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3000" b="1">
                <a:solidFill>
                  <a:srgbClr val="3A4B6B"/>
                </a:solidFill>
                <a:latin typeface="Malgun Gothic"/>
              </a:rPr>
              <a:t>05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371600"/>
            <a:ext cx="489204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600200"/>
            <a:ext cx="4389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>
                <a:solidFill>
                  <a:srgbClr val="2F6FB3"/>
                </a:solidFill>
                <a:latin typeface="Malgun Gothic"/>
              </a:rPr>
              <a:t>무엇을 하나요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011680"/>
            <a:ext cx="438912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250" b="1">
                <a:solidFill>
                  <a:srgbClr val="2F6FB3"/>
                </a:solidFill>
                <a:latin typeface="Malgun Gothic"/>
              </a:rPr>
              <a:t>•  </a:t>
            </a:r>
            <a:r>
              <a:rPr sz="1250">
                <a:solidFill>
                  <a:srgbClr val="1F2937"/>
                </a:solidFill>
                <a:latin typeface="Malgun Gothic"/>
              </a:rPr>
              <a:t>관제자(운영)와 고객사(앰코) 역할 분리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250" b="1">
                <a:solidFill>
                  <a:srgbClr val="2F6FB3"/>
                </a:solidFill>
                <a:latin typeface="Malgun Gothic"/>
              </a:rPr>
              <a:t>•  </a:t>
            </a:r>
            <a:r>
              <a:rPr sz="1250">
                <a:solidFill>
                  <a:srgbClr val="1F2937"/>
                </a:solidFill>
                <a:latin typeface="Malgun Gothic"/>
              </a:rPr>
              <a:t>고객은 담당 사업장을 읽기 전용으로 투명하게 조회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250" b="1">
                <a:solidFill>
                  <a:srgbClr val="2F6FB3"/>
                </a:solidFill>
                <a:latin typeface="Malgun Gothic"/>
              </a:rPr>
              <a:t>•  </a:t>
            </a:r>
            <a:r>
              <a:rPr sz="1250">
                <a:solidFill>
                  <a:srgbClr val="1F2937"/>
                </a:solidFill>
                <a:latin typeface="Malgun Gothic"/>
              </a:rPr>
              <a:t>조치(조치 완료·임시 조치·메모)는 관제자 권한에서만 수행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703320"/>
            <a:ext cx="4892040" cy="2468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3703320"/>
            <a:ext cx="128016" cy="2468880"/>
          </a:xfrm>
          <a:prstGeom prst="rect">
            <a:avLst/>
          </a:prstGeom>
          <a:solidFill>
            <a:srgbClr val="1FA5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3931920"/>
            <a:ext cx="4389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>
                <a:solidFill>
                  <a:srgbClr val="1FA564"/>
                </a:solidFill>
                <a:latin typeface="Malgun Gothic"/>
              </a:rPr>
              <a:t>왜 넣었나요 (도입 가치)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370832"/>
            <a:ext cx="4389120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250" b="1">
                <a:solidFill>
                  <a:srgbClr val="1FA564"/>
                </a:solidFill>
                <a:latin typeface="Malgun Gothic"/>
              </a:rPr>
              <a:t>•  </a:t>
            </a:r>
            <a:r>
              <a:rPr sz="1250">
                <a:solidFill>
                  <a:srgbClr val="1F2937"/>
                </a:solidFill>
                <a:latin typeface="Malgun Gothic"/>
              </a:rPr>
              <a:t>고객에게 실시간 현황을 투명 공개해 신뢰 확보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250" b="1">
                <a:solidFill>
                  <a:srgbClr val="1FA564"/>
                </a:solidFill>
                <a:latin typeface="Malgun Gothic"/>
              </a:rPr>
              <a:t>•  </a:t>
            </a:r>
            <a:r>
              <a:rPr sz="1250">
                <a:solidFill>
                  <a:srgbClr val="1F2937"/>
                </a:solidFill>
                <a:latin typeface="Malgun Gothic"/>
              </a:rPr>
              <a:t>조치 책임은 관제센터가 담당 — 책임 경계가 명확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41848" y="1937258"/>
            <a:ext cx="6044183" cy="3715003"/>
          </a:xfrm>
          <a:prstGeom prst="rect">
            <a:avLst/>
          </a:prstGeom>
          <a:solidFill>
            <a:srgbClr val="FFFFFF"/>
          </a:solidFill>
          <a:ln w="12700">
            <a:solidFill>
              <a:srgbClr val="DD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01-log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0" y="1964690"/>
            <a:ext cx="5989320" cy="3660139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5669280" y="6263640"/>
            <a:ext cx="5989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950" b="0">
                <a:solidFill>
                  <a:srgbClr val="5B6B82"/>
                </a:solidFill>
                <a:latin typeface="Malgun Gothic"/>
              </a:rPr>
              <a:t>실제 화면 · 역할 선택 로그인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5B6B82"/>
                </a:solidFill>
                <a:latin typeface="Malgun Gothic"/>
              </a:rPr>
              <a:t>FEMS 원격 모니터링 시스템 · 프로그램 소개서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7040" y="6473952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5B6B82"/>
                </a:solidFill>
                <a:latin typeface="Malgun Gothic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2F6F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82880"/>
            <a:ext cx="9601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3D8FD1"/>
                </a:solidFill>
                <a:latin typeface="Malgun Gothic"/>
              </a:rPr>
              <a:t>DEFINITION  ·  알림 기준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57200"/>
            <a:ext cx="107899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Malgun Gothic"/>
              </a:rPr>
              <a:t>알림 유형과 심각도 기준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32588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>
                <a:solidFill>
                  <a:srgbClr val="1B2A4A"/>
                </a:solidFill>
                <a:latin typeface="Malgun Gothic"/>
              </a:rPr>
              <a:t>알림 4대 유형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783080"/>
            <a:ext cx="5394960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783080"/>
            <a:ext cx="128016" cy="841248"/>
          </a:xfrm>
          <a:prstGeom prst="rect">
            <a:avLst/>
          </a:prstGeom>
          <a:solidFill>
            <a:srgbClr val="1FA5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911095"/>
            <a:ext cx="2743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50" b="1">
                <a:solidFill>
                  <a:srgbClr val="1F2937"/>
                </a:solidFill>
                <a:latin typeface="Malgun Gothic"/>
              </a:rPr>
              <a:t>데이터 정상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2240280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>
                <a:solidFill>
                  <a:srgbClr val="5B6B82"/>
                </a:solidFill>
                <a:latin typeface="Malgun Gothic"/>
              </a:rPr>
              <a:t>데이터가 정상 수신되는 상태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743200"/>
            <a:ext cx="5394960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2743200"/>
            <a:ext cx="128016" cy="841248"/>
          </a:xfrm>
          <a:prstGeom prst="rect">
            <a:avLst/>
          </a:prstGeom>
          <a:solidFill>
            <a:srgbClr val="E087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2871216"/>
            <a:ext cx="2743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50" b="1">
                <a:solidFill>
                  <a:srgbClr val="1F2937"/>
                </a:solidFill>
                <a:latin typeface="Malgun Gothic"/>
              </a:rPr>
              <a:t>데이터 수신 비정상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3200400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>
                <a:solidFill>
                  <a:srgbClr val="5B6B82"/>
                </a:solidFill>
                <a:latin typeface="Malgun Gothic"/>
              </a:rPr>
              <a:t>동일값 지속·비정상 수치·데이터 끊김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703320"/>
            <a:ext cx="5394960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640" y="3703320"/>
            <a:ext cx="128016" cy="841248"/>
          </a:xfrm>
          <a:prstGeom prst="rect">
            <a:avLst/>
          </a:prstGeom>
          <a:solidFill>
            <a:srgbClr val="E24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3831335"/>
            <a:ext cx="2743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50" b="1">
                <a:solidFill>
                  <a:srgbClr val="1F2937"/>
                </a:solidFill>
                <a:latin typeface="Malgun Gothic"/>
              </a:rPr>
              <a:t>전력 피크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6968" y="4160520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>
                <a:solidFill>
                  <a:srgbClr val="5B6B82"/>
                </a:solidFill>
                <a:latin typeface="Malgun Gothic"/>
              </a:rPr>
              <a:t>계약/설정 전력 초과 예측·발생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4663440"/>
            <a:ext cx="5394960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48640" y="4663440"/>
            <a:ext cx="128016" cy="841248"/>
          </a:xfrm>
          <a:prstGeom prst="rect">
            <a:avLst/>
          </a:prstGeom>
          <a:solidFill>
            <a:srgbClr val="2F6F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8680" y="4791455"/>
            <a:ext cx="2743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50" b="1">
                <a:solidFill>
                  <a:srgbClr val="1F2937"/>
                </a:solidFill>
                <a:latin typeface="Malgun Gothic"/>
              </a:rPr>
              <a:t>설비 가동 이상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6968" y="5120640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>
                <a:solidFill>
                  <a:srgbClr val="5B6B82"/>
                </a:solidFill>
                <a:latin typeface="Malgun Gothic"/>
              </a:rPr>
              <a:t>비정상 정지·유효전력 Zero 등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9360" y="132588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>
                <a:solidFill>
                  <a:srgbClr val="1B2A4A"/>
                </a:solidFill>
                <a:latin typeface="Malgun Gothic"/>
              </a:rPr>
              <a:t>알림 4단계 레벨 (Severity)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309360" y="1783080"/>
            <a:ext cx="5349240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537960" y="2020824"/>
            <a:ext cx="365760" cy="365760"/>
          </a:xfrm>
          <a:prstGeom prst="roundRect">
            <a:avLst/>
          </a:prstGeom>
          <a:solidFill>
            <a:srgbClr val="E24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086600" y="1911095"/>
            <a:ext cx="4389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50" b="1">
                <a:solidFill>
                  <a:srgbClr val="1F2937"/>
                </a:solidFill>
                <a:latin typeface="Malgun Gothic"/>
              </a:rPr>
              <a:t>긴급 (Critical)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04888" y="2240280"/>
            <a:ext cx="4389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>
                <a:solidFill>
                  <a:srgbClr val="5B6B82"/>
                </a:solidFill>
                <a:latin typeface="Malgun Gothic"/>
              </a:rPr>
              <a:t>즉시 조치가 필요한 심각한 알림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309360" y="2743200"/>
            <a:ext cx="5349240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6537960" y="2980944"/>
            <a:ext cx="365760" cy="365760"/>
          </a:xfrm>
          <a:prstGeom prst="roundRect">
            <a:avLst/>
          </a:prstGeom>
          <a:solidFill>
            <a:srgbClr val="E087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086600" y="2871216"/>
            <a:ext cx="4389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50" b="1">
                <a:solidFill>
                  <a:srgbClr val="1F2937"/>
                </a:solidFill>
                <a:latin typeface="Malgun Gothic"/>
              </a:rPr>
              <a:t>경고 (Warning)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104888" y="3200400"/>
            <a:ext cx="4389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>
                <a:solidFill>
                  <a:srgbClr val="5B6B82"/>
                </a:solidFill>
                <a:latin typeface="Malgun Gothic"/>
              </a:rPr>
              <a:t>확인이 필요한 주의 알림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309360" y="3703320"/>
            <a:ext cx="5349240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6537960" y="3941063"/>
            <a:ext cx="365760" cy="365760"/>
          </a:xfrm>
          <a:prstGeom prst="roundRect">
            <a:avLst/>
          </a:prstGeom>
          <a:solidFill>
            <a:srgbClr val="2F6F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086600" y="3831335"/>
            <a:ext cx="4389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50" b="1">
                <a:solidFill>
                  <a:srgbClr val="1F2937"/>
                </a:solidFill>
                <a:latin typeface="Malgun Gothic"/>
              </a:rPr>
              <a:t>정보 (Info)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04888" y="4160520"/>
            <a:ext cx="4389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>
                <a:solidFill>
                  <a:srgbClr val="5B6B82"/>
                </a:solidFill>
                <a:latin typeface="Malgun Gothic"/>
              </a:rPr>
              <a:t>참고가 필요한 일반 알림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309360" y="4663440"/>
            <a:ext cx="5349240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6537960" y="4901183"/>
            <a:ext cx="365760" cy="365760"/>
          </a:xfrm>
          <a:prstGeom prst="roundRect">
            <a:avLst/>
          </a:prstGeom>
          <a:solidFill>
            <a:srgbClr val="1FA5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086600" y="4791455"/>
            <a:ext cx="4389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50" b="1">
                <a:solidFill>
                  <a:srgbClr val="1F2937"/>
                </a:solidFill>
                <a:latin typeface="Malgun Gothic"/>
              </a:rPr>
              <a:t>정상 (Normal)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104888" y="5120640"/>
            <a:ext cx="4389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>
                <a:solidFill>
                  <a:srgbClr val="5B6B82"/>
                </a:solidFill>
                <a:latin typeface="Malgun Gothic"/>
              </a:rPr>
              <a:t>정상 상태 알림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48640" y="5806440"/>
            <a:ext cx="11109960" cy="658368"/>
          </a:xfrm>
          <a:prstGeom prst="round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68680" y="5943600"/>
            <a:ext cx="1060704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Malgun Gothic"/>
              </a:rPr>
              <a:t>대응 프로세스 :  알림 발생 → 원인 파악(관제센터) → 고객 확인 → 필요 시 현장 조치 → 이력 등록·리포트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5B6B82"/>
                </a:solidFill>
                <a:latin typeface="Malgun Gothic"/>
              </a:rPr>
              <a:t>FEMS 원격 모니터링 시스템 · 프로그램 소개서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607040" y="6473952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5B6B82"/>
                </a:solidFill>
                <a:latin typeface="Malgun Gothic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2F6F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82880"/>
            <a:ext cx="9601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3D8FD1"/>
                </a:solidFill>
                <a:latin typeface="Malgun Gothic"/>
              </a:rPr>
              <a:t>INTEGRATION  ·  연동 방식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57200"/>
            <a:ext cx="107899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Malgun Gothic"/>
              </a:rPr>
              <a:t>기존 인프라에 쉽게 연결됩니다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371600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450" b="0">
                <a:solidFill>
                  <a:srgbClr val="1F2937"/>
                </a:solidFill>
                <a:latin typeface="Malgun Gothic"/>
              </a:rPr>
              <a:t>나중에 붙일 소스 프로그램은 표준 API 한 지점(POST /api/ingest)으로 계측값을 주기 전송하기만 하면 됩니다.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286000"/>
            <a:ext cx="11109960" cy="1371600"/>
          </a:xfrm>
          <a:prstGeom prst="round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487168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3D8FD1"/>
                </a:solidFill>
                <a:latin typeface="Malgun Gothic"/>
              </a:rPr>
              <a:t>예시 · 계측값 전송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852928"/>
            <a:ext cx="10515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POST /api/ingest   { "readings": [ {"point_key":"K5-PWR-001","value":812.5,"effective_power":812.5}, ... ] }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977639"/>
            <a:ext cx="361188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22959" y="4251960"/>
            <a:ext cx="457200" cy="457200"/>
          </a:xfrm>
          <a:prstGeom prst="roundRect">
            <a:avLst/>
          </a:prstGeom>
          <a:solidFill>
            <a:srgbClr val="2F6F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59" y="4315968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Malgun Gothic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59" y="4846320"/>
            <a:ext cx="3108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>
                <a:solidFill>
                  <a:srgbClr val="1F2937"/>
                </a:solidFill>
                <a:latin typeface="Malgun Gothic"/>
              </a:rPr>
              <a:t>표준 API 한 지점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7" y="5349240"/>
            <a:ext cx="3108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150" b="0">
                <a:solidFill>
                  <a:srgbClr val="5B6B82"/>
                </a:solidFill>
                <a:latin typeface="Malgun Gothic"/>
              </a:rPr>
              <a:t>기존 인프라 변경 최소화 — 게이트웨이/서버에서 전송만 연결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25112" y="3977639"/>
            <a:ext cx="361188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599431" y="4251960"/>
            <a:ext cx="457200" cy="457200"/>
          </a:xfrm>
          <a:prstGeom prst="roundRect">
            <a:avLst/>
          </a:prstGeom>
          <a:solidFill>
            <a:srgbClr val="2F6F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99431" y="4315968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Malgun Gothic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99431" y="4846320"/>
            <a:ext cx="3108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>
                <a:solidFill>
                  <a:srgbClr val="1F2937"/>
                </a:solidFill>
                <a:latin typeface="Malgun Gothic"/>
              </a:rPr>
              <a:t>자동 등록·확장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17720" y="5349240"/>
            <a:ext cx="3108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150" b="0">
                <a:solidFill>
                  <a:srgbClr val="5B6B82"/>
                </a:solidFill>
                <a:latin typeface="Malgun Gothic"/>
              </a:rPr>
              <a:t>신규 사업장·계측기 추가가 간단, 3차 베트남 CEMS 확장 용이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01583" y="3977639"/>
            <a:ext cx="361188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375904" y="4251960"/>
            <a:ext cx="457200" cy="457200"/>
          </a:xfrm>
          <a:prstGeom prst="roundRect">
            <a:avLst/>
          </a:prstGeom>
          <a:solidFill>
            <a:srgbClr val="2F6F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75904" y="4315968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Malgun Gothic"/>
              </a:rP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75904" y="4846320"/>
            <a:ext cx="3108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>
                <a:solidFill>
                  <a:srgbClr val="1F2937"/>
                </a:solidFill>
                <a:latin typeface="Malgun Gothic"/>
              </a:rPr>
              <a:t>메타 등록으로 정확도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94192" y="5349240"/>
            <a:ext cx="3108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150" b="0">
                <a:solidFill>
                  <a:srgbClr val="5B6B82"/>
                </a:solidFill>
                <a:latin typeface="Malgun Gothic"/>
              </a:rPr>
              <a:t>정상 범위·피크 임계·주기를 등록하면 판정 정확도 향상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5B6B82"/>
                </a:solidFill>
                <a:latin typeface="Malgun Gothic"/>
              </a:rPr>
              <a:t>FEMS 원격 모니터링 시스템 · 프로그램 소개서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07040" y="6473952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5B6B82"/>
                </a:solidFill>
                <a:latin typeface="Malgun Gothic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2F6F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82880"/>
            <a:ext cx="9601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3D8FD1"/>
                </a:solidFill>
                <a:latin typeface="Malgun Gothic"/>
              </a:rPr>
              <a:t>BENEFITS  ·  도입 효과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57200"/>
            <a:ext cx="107899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Malgun Gothic"/>
              </a:rPr>
              <a:t>기대 효과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45920"/>
            <a:ext cx="2697480" cy="3200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45920"/>
            <a:ext cx="2697480" cy="146304"/>
          </a:xfrm>
          <a:prstGeom prst="rect">
            <a:avLst/>
          </a:prstGeom>
          <a:solidFill>
            <a:srgbClr val="2F6F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2148840"/>
            <a:ext cx="26974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3000" b="1">
                <a:solidFill>
                  <a:srgbClr val="2F6FB3"/>
                </a:solidFill>
                <a:latin typeface="Malgun Gothic"/>
              </a:rPr>
              <a:t>95~100%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200400"/>
            <a:ext cx="224028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400"/>
              </a:spcAft>
            </a:pPr>
            <a:r>
              <a:rPr sz="1300" b="0">
                <a:solidFill>
                  <a:srgbClr val="5B6B82"/>
                </a:solidFill>
                <a:latin typeface="Malgun Gothic"/>
              </a:rPr>
              <a:t>수신율 관리 목표를 상시 자동 감시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37560" y="1645920"/>
            <a:ext cx="2697480" cy="3200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337560" y="1645920"/>
            <a:ext cx="2697480" cy="146304"/>
          </a:xfrm>
          <a:prstGeom prst="rect">
            <a:avLst/>
          </a:prstGeom>
          <a:solidFill>
            <a:srgbClr val="E24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37560" y="2148840"/>
            <a:ext cx="26974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3000" b="1">
                <a:solidFill>
                  <a:srgbClr val="E2453C"/>
                </a:solidFill>
                <a:latin typeface="Malgun Gothic"/>
              </a:rPr>
              <a:t>실시간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0" y="3200400"/>
            <a:ext cx="224028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400"/>
              </a:spcAft>
            </a:pPr>
            <a:r>
              <a:rPr sz="1300" b="0">
                <a:solidFill>
                  <a:srgbClr val="5B6B82"/>
                </a:solidFill>
                <a:latin typeface="Malgun Gothic"/>
              </a:rPr>
              <a:t>이상 발생 시 자동 알림으로 대응 시간 단축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26479" y="1645920"/>
            <a:ext cx="2697480" cy="3200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26479" y="1645920"/>
            <a:ext cx="2697480" cy="146304"/>
          </a:xfrm>
          <a:prstGeom prst="rect">
            <a:avLst/>
          </a:prstGeom>
          <a:solidFill>
            <a:srgbClr val="1FA5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26479" y="2148840"/>
            <a:ext cx="26974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3000" b="1">
                <a:solidFill>
                  <a:srgbClr val="1FA564"/>
                </a:solidFill>
                <a:latin typeface="Malgun Gothic"/>
              </a:rPr>
              <a:t>예방정비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5079" y="3200400"/>
            <a:ext cx="224028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400"/>
              </a:spcAft>
            </a:pPr>
            <a:r>
              <a:rPr sz="1300" b="0">
                <a:solidFill>
                  <a:srgbClr val="5B6B82"/>
                </a:solidFill>
                <a:latin typeface="Malgun Gothic"/>
              </a:rPr>
              <a:t>반복 장애를 데이터로 식별해 사전 예방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915400" y="1645920"/>
            <a:ext cx="2697480" cy="3200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915400" y="1645920"/>
            <a:ext cx="2697480" cy="146304"/>
          </a:xfrm>
          <a:prstGeom prst="rect">
            <a:avLst/>
          </a:prstGeom>
          <a:solidFill>
            <a:srgbClr val="E087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915400" y="2148840"/>
            <a:ext cx="26974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3000" b="1">
                <a:solidFill>
                  <a:srgbClr val="E0870D"/>
                </a:solidFill>
                <a:latin typeface="Malgun Gothic"/>
              </a:rPr>
              <a:t>자동화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0" y="3200400"/>
            <a:ext cx="224028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400"/>
              </a:spcAft>
            </a:pPr>
            <a:r>
              <a:rPr sz="1300" b="0">
                <a:solidFill>
                  <a:srgbClr val="5B6B82"/>
                </a:solidFill>
                <a:latin typeface="Malgun Gothic"/>
              </a:rPr>
              <a:t>SLA 준수 현황 가시화·리포트 자동 생성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5166360"/>
            <a:ext cx="11109960" cy="1051560"/>
          </a:xfrm>
          <a:prstGeom prst="round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8680" y="5358384"/>
            <a:ext cx="1060704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350" b="1">
                <a:solidFill>
                  <a:srgbClr val="FFFFFF"/>
                </a:solidFill>
                <a:latin typeface="Malgun Gothic"/>
              </a:rPr>
              <a:t>관제 인력은 이상에만 집중하고, 고객은 실시간으로 현황을 투명하게 확인합니다.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350" b="1">
                <a:solidFill>
                  <a:srgbClr val="FFFFFF"/>
                </a:solidFill>
                <a:latin typeface="Malgun Gothic"/>
              </a:rPr>
              <a:t>데이터 수신·정합성 관점의 SLA를 수치로 관리·증빙할 수 있습니다.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5B6B82"/>
                </a:solidFill>
                <a:latin typeface="Malgun Gothic"/>
              </a:rPr>
              <a:t>FEMS 원격 모니터링 시스템 · 프로그램 소개서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607040" y="6473952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5B6B82"/>
                </a:solidFill>
                <a:latin typeface="Malgun Gothic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2F6F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82880"/>
            <a:ext cx="9601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3D8FD1"/>
                </a:solidFill>
                <a:latin typeface="Malgun Gothic"/>
              </a:rPr>
              <a:t>ROADMAP  ·  단계적 적용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57200"/>
            <a:ext cx="107899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Malgun Gothic"/>
              </a:rPr>
              <a:t>단계적 적용 로드맵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286000"/>
            <a:ext cx="3200400" cy="2743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22960" y="2286000"/>
            <a:ext cx="3200400" cy="822960"/>
          </a:xfrm>
          <a:prstGeom prst="roundRect">
            <a:avLst/>
          </a:prstGeom>
          <a:solidFill>
            <a:srgbClr val="2F6F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395728"/>
            <a:ext cx="3200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Malgun Gothic"/>
              </a:rPr>
              <a:t>1차 단계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3337560"/>
            <a:ext cx="27432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600" b="1">
                <a:solidFill>
                  <a:srgbClr val="1F2937"/>
                </a:solidFill>
                <a:latin typeface="Malgun Gothic"/>
              </a:rPr>
              <a:t>K5 (송도) 파일럿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4160520"/>
            <a:ext cx="26517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400"/>
              </a:spcAft>
            </a:pPr>
            <a:r>
              <a:rPr sz="1250" b="0">
                <a:solidFill>
                  <a:srgbClr val="5B6B82"/>
                </a:solidFill>
                <a:latin typeface="Malgun Gothic"/>
              </a:rPr>
              <a:t>시스템 개발·검증 · 수신율/정합성 기준 확립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77640" y="3291840"/>
            <a:ext cx="5029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2400" b="1">
                <a:solidFill>
                  <a:srgbClr val="2F6FB3"/>
                </a:solidFill>
                <a:latin typeface="Malgun Gothic"/>
              </a:rPr>
              <a:t>➜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62272" y="2286000"/>
            <a:ext cx="3200400" cy="2743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462272" y="2286000"/>
            <a:ext cx="3200400" cy="822960"/>
          </a:xfrm>
          <a:prstGeom prst="roundRect">
            <a:avLst/>
          </a:prstGeom>
          <a:solidFill>
            <a:srgbClr val="3D8F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62272" y="2395728"/>
            <a:ext cx="3200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Malgun Gothic"/>
              </a:rPr>
              <a:t>2차 단계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90872" y="3337560"/>
            <a:ext cx="27432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600" b="1">
                <a:solidFill>
                  <a:srgbClr val="1F2937"/>
                </a:solidFill>
                <a:latin typeface="Malgun Gothic"/>
              </a:rPr>
              <a:t>K3 · K4 확장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36592" y="4160520"/>
            <a:ext cx="26517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400"/>
              </a:spcAft>
            </a:pPr>
            <a:r>
              <a:rPr sz="1250" b="0">
                <a:solidFill>
                  <a:srgbClr val="5B6B82"/>
                </a:solidFill>
                <a:latin typeface="Malgun Gothic"/>
              </a:rPr>
              <a:t>검증된 기준을 전 사업장으로 확대 적용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16951" y="3291840"/>
            <a:ext cx="5029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2400" b="1">
                <a:solidFill>
                  <a:srgbClr val="2F6FB3"/>
                </a:solidFill>
                <a:latin typeface="Malgun Gothic"/>
              </a:rPr>
              <a:t>➜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01583" y="2286000"/>
            <a:ext cx="3200400" cy="2743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101583" y="2286000"/>
            <a:ext cx="3200400" cy="822960"/>
          </a:xfrm>
          <a:prstGeom prst="roundRect">
            <a:avLst/>
          </a:prstGeom>
          <a:solidFill>
            <a:srgbClr val="223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01583" y="2395728"/>
            <a:ext cx="3200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Malgun Gothic"/>
              </a:rPr>
              <a:t>3차 단계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30183" y="3337560"/>
            <a:ext cx="27432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600" b="1">
                <a:solidFill>
                  <a:srgbClr val="1F2937"/>
                </a:solidFill>
                <a:latin typeface="Malgun Gothic"/>
              </a:rPr>
              <a:t>베트남 · CEMS 연계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75904" y="4160520"/>
            <a:ext cx="26517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400"/>
              </a:spcAft>
            </a:pPr>
            <a:r>
              <a:rPr sz="1250" b="0">
                <a:solidFill>
                  <a:srgbClr val="5B6B82"/>
                </a:solidFill>
                <a:latin typeface="Malgun Gothic"/>
              </a:rPr>
              <a:t>해외 사업장·환경(CEMS) 연계 고도화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534924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0">
                <a:solidFill>
                  <a:srgbClr val="5B6B82"/>
                </a:solidFill>
                <a:latin typeface="Malgun Gothic"/>
              </a:rPr>
              <a:t>* 사업장은 설정에서 활성화 플래그로 관리하여, 검증 후 순차 확장합니다.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5B6B82"/>
                </a:solidFill>
                <a:latin typeface="Malgun Gothic"/>
              </a:rPr>
              <a:t>FEMS 원격 모니터링 시스템 · 프로그램 소개서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607040" y="6473952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5B6B82"/>
                </a:solidFill>
                <a:latin typeface="Malgun Gothic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743200"/>
            <a:ext cx="12191695" cy="45720"/>
          </a:xfrm>
          <a:prstGeom prst="rect">
            <a:avLst/>
          </a:prstGeom>
          <a:solidFill>
            <a:srgbClr val="2F6F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55448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400" b="1">
                <a:solidFill>
                  <a:srgbClr val="FFFFFF"/>
                </a:solidFill>
                <a:latin typeface="Malgun Gothic"/>
              </a:rPr>
              <a:t>지금 바로 확인해 보세요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297180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>
                <a:solidFill>
                  <a:srgbClr val="3D8FD1"/>
                </a:solidFill>
                <a:latin typeface="Malgun Gothic"/>
              </a:rPr>
              <a:t>공개 데모 (설치 없이 브라우저에서 접속)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347472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Consolas"/>
              </a:rPr>
              <a:t>https://changbeomlee0816-png.github.io/FEMS/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434340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>
                <a:solidFill>
                  <a:srgbClr val="C7D3E6"/>
                </a:solidFill>
                <a:latin typeface="Malgun Gothic"/>
              </a:rPr>
              <a:t>로그인 → 관제자/고객사 역할 선택 → 통합 현황·지도·알림·리포트 체험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57784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0">
                <a:solidFill>
                  <a:srgbClr val="9FB0CC"/>
                </a:solidFill>
                <a:latin typeface="Malgun Gothic"/>
              </a:rPr>
              <a:t>유호스트(YouHost) · FEMS 원격 모니터링 시스템 · 수신율·정합성 기반 통합 관제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