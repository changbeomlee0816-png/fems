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30368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YOUHOST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</a:rPr>
              <a:t>FEMS 원격 모니터링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3D8FD1"/>
                </a:solidFill>
                <a:latin typeface="Malgun Gothic"/>
              </a:rPr>
              <a:t>수신율·정합성 기반 통합 관제 · 프로그램 소개서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20624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50" b="0">
                <a:solidFill>
                  <a:srgbClr val="C7D3E6"/>
                </a:solidFill>
                <a:latin typeface="Malgun Gothic"/>
              </a:rPr>
              <a:t>다수 사업장의 계측 데이터를 실시간으로 감시하고, 이상을 4단계 심각도로 자동 분류·알림하며,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50" b="0">
                <a:solidFill>
                  <a:srgbClr val="C7D3E6"/>
                </a:solidFill>
                <a:latin typeface="Malgun Gothic"/>
              </a:rPr>
              <a:t>이력 분석으로 예방정비와 SLA 리포트까지 연결하는 통합 관제 솔루션입니다.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9FB0CC"/>
                </a:solidFill>
                <a:latin typeface="Malgun Gothic"/>
              </a:rPr>
              <a:t>대상 : 앰코테크놀로지   ·   제공 : 유호스트(YouHost)   ·   기반 : FEMS SLA 제안서 12~13p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CONTENTS · 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무엇을 담고 있나요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349240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27632"/>
            <a:ext cx="822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2F6FB3"/>
                </a:solidFill>
                <a:latin typeface="Malgun Gothi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627632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F2937"/>
                </a:solidFill>
                <a:latin typeface="Malgun Gothic"/>
              </a:rPr>
              <a:t>도입 배경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121408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왜 자동 통합 관제가 필요한가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371600"/>
            <a:ext cx="5349240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627632"/>
            <a:ext cx="822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2F6FB3"/>
                </a:solidFill>
                <a:latin typeface="Malgun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34071" y="1627632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F2937"/>
                </a:solidFill>
                <a:latin typeface="Malgun Gothic"/>
              </a:rPr>
              <a:t>동작 원리 · 3대 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4071" y="2121408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수신율 · 정합성 · 전력피크/설비가동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862072"/>
            <a:ext cx="5349240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3118104"/>
            <a:ext cx="822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2F6FB3"/>
                </a:solidFill>
                <a:latin typeface="Malgun Gothi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118104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F2937"/>
                </a:solidFill>
                <a:latin typeface="Malgun Gothic"/>
              </a:rPr>
              <a:t>핵심 기능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611879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통합현황·지도 / 사업장 / 알림 / 리포트 / 권한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2862072"/>
            <a:ext cx="5349240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3118104"/>
            <a:ext cx="822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2F6FB3"/>
                </a:solidFill>
                <a:latin typeface="Malgun Gothi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4071" y="3118104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F2937"/>
                </a:solidFill>
                <a:latin typeface="Malgun Gothic"/>
              </a:rPr>
              <a:t>알림 기준·처리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34071" y="3611879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4대 유형 · 4단계 레벨 · 자동 발송·해제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52544"/>
            <a:ext cx="5349240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608576"/>
            <a:ext cx="822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2F6FB3"/>
                </a:solidFill>
                <a:latin typeface="Malgun Gothi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08576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F2937"/>
                </a:solidFill>
                <a:latin typeface="Malgun Gothic"/>
              </a:rPr>
              <a:t>데이터 연동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102352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표준 API · 포인트 등록 · 확장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352544"/>
            <a:ext cx="5349240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5392" y="4608576"/>
            <a:ext cx="822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2F6FB3"/>
                </a:solidFill>
                <a:latin typeface="Malgun Gothi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4071" y="4608576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F2937"/>
                </a:solidFill>
                <a:latin typeface="Malgun Gothic"/>
              </a:rPr>
              <a:t>기대 효과 · 로드맵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1" y="5102352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도입 가치 · 단계적 적용 · 운영/확장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WHY ·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왜 이 시스템이 필요한가요?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Malgun Gothic"/>
              </a:rPr>
              <a:t>공장 에너지 관리(FEMS)의 계측 데이터는 양이 많고 24시간 발생하지만, 사람이 모든 값을 실시간으로 확인하기는 어렵습니다.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61188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3611880" cy="128016"/>
          </a:xfrm>
          <a:prstGeom prst="rect">
            <a:avLst/>
          </a:prstGeom>
          <a:solidFill>
            <a:srgbClr val="E2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45059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Malgun Gothic"/>
              </a:rPr>
              <a:t>데이터가 안 들어와도 모른다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3375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계측기·게이트웨이·통신 장애로 데이터가 일부만 수신되거나 끊겨도 즉시 인지하기 어렵습니다. 야간·주말은 사각지대가 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2148840"/>
            <a:ext cx="361188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2148840"/>
            <a:ext cx="3611880" cy="128016"/>
          </a:xfrm>
          <a:prstGeom prst="rect">
            <a:avLst/>
          </a:prstGeom>
          <a:solidFill>
            <a:srgbClr val="E087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45059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Malgun Gothic"/>
              </a:rPr>
              <a:t>이상값을 사람이 다 못 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3375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값 고착·비정상 수치·정합성 오류가 그대로 집계되면 에너지 분석·정산의 근거 데이터 신뢰도가 떨어집니다.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2148840"/>
            <a:ext cx="361188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1583" y="2148840"/>
            <a:ext cx="3611880" cy="128016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245059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Malgun Gothic"/>
              </a:rPr>
              <a:t>설비 이상·피크를 놓친다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33375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설비 가동 중단이나 전력 피크를 놓치면 에너지 비용 증가·생산 차질·SLA 위반으로 직결됩니다.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12080"/>
            <a:ext cx="11091672" cy="77724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212080"/>
            <a:ext cx="10469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Malgun Gothic"/>
              </a:rPr>
              <a:t>➜  놓치지 않으려면 상시 자동 감시 · 심각도 기반 우선순위 · 이력 분석 체계가 필요합니다.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WHY · 배경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현행 운영의 한계와 요구사항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539496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5394960" cy="109728"/>
          </a:xfrm>
          <a:prstGeom prst="rect">
            <a:avLst/>
          </a:prstGeom>
          <a:solidFill>
            <a:srgbClr val="E087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Malgun Gothic"/>
              </a:rPr>
              <a:t>현행 운영의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4800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 b="1">
                <a:solidFill>
                  <a:srgbClr val="E0870D"/>
                </a:solidFill>
                <a:latin typeface="Malgun Gothic"/>
              </a:rPr>
              <a:t>•  </a:t>
            </a:r>
            <a:r>
              <a:rPr sz="1300">
                <a:solidFill>
                  <a:srgbClr val="1F2937"/>
                </a:solidFill>
                <a:latin typeface="Malgun Gothic"/>
              </a:rPr>
              <a:t>사람이 24시간 수기로 확인 — 야간·주말·다수 사업장은 사각지대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 b="1">
                <a:solidFill>
                  <a:srgbClr val="E0870D"/>
                </a:solidFill>
                <a:latin typeface="Malgun Gothic"/>
              </a:rPr>
              <a:t>•  </a:t>
            </a:r>
            <a:r>
              <a:rPr sz="1300">
                <a:solidFill>
                  <a:srgbClr val="1F2937"/>
                </a:solidFill>
                <a:latin typeface="Malgun Gothic"/>
              </a:rPr>
              <a:t>이상 인지가 늦어 조치도 지연, 피해가 커진 뒤에야 대응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 b="1">
                <a:solidFill>
                  <a:srgbClr val="E0870D"/>
                </a:solidFill>
                <a:latin typeface="Malgun Gothic"/>
              </a:rPr>
              <a:t>•  </a:t>
            </a:r>
            <a:r>
              <a:rPr sz="1300">
                <a:solidFill>
                  <a:srgbClr val="1F2937"/>
                </a:solidFill>
                <a:latin typeface="Malgun Gothic"/>
              </a:rPr>
              <a:t>데이터 신뢰도 저하로 에너지 분석·정산 근거가 약화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 b="1">
                <a:solidFill>
                  <a:srgbClr val="E0870D"/>
                </a:solidFill>
                <a:latin typeface="Malgun Gothic"/>
              </a:rPr>
              <a:t>•  </a:t>
            </a:r>
            <a:r>
              <a:rPr sz="1300">
                <a:solidFill>
                  <a:srgbClr val="1F2937"/>
                </a:solidFill>
                <a:latin typeface="Malgun Gothic"/>
              </a:rPr>
              <a:t>사업장·계측기 증가 시 관리 부담이 기하급수적으로 증가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325880"/>
            <a:ext cx="539496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325880"/>
            <a:ext cx="5394960" cy="109728"/>
          </a:xfrm>
          <a:prstGeom prst="rect">
            <a:avLst/>
          </a:prstGeom>
          <a:solidFill>
            <a:srgbClr val="1FA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16002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Malgun Gothic"/>
              </a:rPr>
              <a:t>요구되는 관제 체계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103120"/>
            <a:ext cx="4800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300">
                <a:solidFill>
                  <a:srgbClr val="1F2937"/>
                </a:solidFill>
                <a:latin typeface="Malgun Gothic"/>
              </a:rPr>
              <a:t>계측값 상시 자동 감시 — 미수신·이상을 즉시 포착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300">
                <a:solidFill>
                  <a:srgbClr val="1F2937"/>
                </a:solidFill>
                <a:latin typeface="Malgun Gothic"/>
              </a:rPr>
              <a:t>심각도(긴급/경고/정보) 기반으로 대응 우선순위 자동 분류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300">
                <a:solidFill>
                  <a:srgbClr val="1F2937"/>
                </a:solidFill>
                <a:latin typeface="Malgun Gothic"/>
              </a:rPr>
              <a:t>장애·이상 이력 축적 → 재발 패턴 분석·예방정비 연결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300">
                <a:solidFill>
                  <a:srgbClr val="1F2937"/>
                </a:solidFill>
                <a:latin typeface="Malgun Gothic"/>
              </a:rPr>
              <a:t>고객에게 실시간 현황을 투명하게 공유 (읽기 전용)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166360"/>
            <a:ext cx="11091672" cy="77724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66360"/>
            <a:ext cx="10469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본 시스템은 위 요구사항을 수신율·정합성 중심의 통합 관제로 구현합니다.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OVERVIEW · 시스템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한눈에 보는 동작 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Malgun Gothic"/>
              </a:rPr>
              <a:t>외부 계측 소스의 데이터를 표준 API로 받아, 3대 기준으로 실시간 판정하고, 대시보드·알림·리포트로 전달합니다.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25603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2560320" cy="457200"/>
          </a:xfrm>
          <a:prstGeom prst="round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75688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계측 소스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2286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B6B82"/>
                </a:solidFill>
                <a:latin typeface="Malgun Gothic"/>
              </a:rPr>
              <a:t>전력계측기·유량계 / FEMS·게이트웨이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42316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2F6FB3"/>
                </a:solidFill>
                <a:latin typeface="Malgun Gothic"/>
              </a:rPr>
              <a:t>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2424" y="2011680"/>
            <a:ext cx="25603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2424" y="2011680"/>
            <a:ext cx="2560320" cy="457200"/>
          </a:xfrm>
          <a:prstGeom prst="roundRect">
            <a:avLst/>
          </a:prstGeom>
          <a:solidFill>
            <a:srgbClr val="3D8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92424" y="2075688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데이터 수집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9584" y="2606040"/>
            <a:ext cx="2286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B6B82"/>
                </a:solidFill>
                <a:latin typeface="Malgun Gothic"/>
              </a:rPr>
              <a:t>표준 API 수신 (POST /api/ingest)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4456" y="242316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2F6FB3"/>
                </a:solidFill>
                <a:latin typeface="Malgun Gothic"/>
              </a:rP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2011680"/>
            <a:ext cx="25603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2011680"/>
            <a:ext cx="2560320" cy="457200"/>
          </a:xfrm>
          <a:prstGeom prst="roundRect">
            <a:avLst/>
          </a:prstGeom>
          <a:solidFill>
            <a:srgbClr val="2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075688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판정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2606040"/>
            <a:ext cx="2286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B6B82"/>
                </a:solidFill>
                <a:latin typeface="Malgun Gothic"/>
              </a:rPr>
              <a:t>수신율·정합성·전력피크/Zero 실시간 판정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242316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2F6FB3"/>
                </a:solidFill>
                <a:latin typeface="Malgun Gothic"/>
              </a:rP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9992" y="2011680"/>
            <a:ext cx="25603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079992" y="2011680"/>
            <a:ext cx="2560320" cy="457200"/>
          </a:xfrm>
          <a:prstGeom prst="roundRect">
            <a:avLst/>
          </a:prstGeom>
          <a:solidFill>
            <a:srgbClr val="1FA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79992" y="2075688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관제·알림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7152" y="2606040"/>
            <a:ext cx="2286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B6B82"/>
                </a:solidFill>
                <a:latin typeface="Malgun Gothic"/>
              </a:rPr>
              <a:t>통합 대시보드 · 자동 알림 · 이력 리포트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977639"/>
            <a:ext cx="36118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977639"/>
            <a:ext cx="128016" cy="1417320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" y="420624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F2937"/>
                </a:solidFill>
                <a:latin typeface="Malgun Gothic"/>
              </a:rPr>
              <a:t>① 수신율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" y="47091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정상수신 ÷ 전체등록 × 100 · 목표 95~100%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5112" y="3977639"/>
            <a:ext cx="36118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5112" y="3977639"/>
            <a:ext cx="128016" cy="1417320"/>
          </a:xfrm>
          <a:prstGeom prst="rect">
            <a:avLst/>
          </a:prstGeom>
          <a:solidFill>
            <a:srgbClr val="E087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420624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F2937"/>
                </a:solidFill>
                <a:latin typeface="Malgun Gothic"/>
              </a:rPr>
              <a:t>② 데이터 정합성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47091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동일값 지속·비정상 수치·데이터 끊김 검증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01583" y="3977639"/>
            <a:ext cx="36118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01583" y="3977639"/>
            <a:ext cx="128016" cy="1417320"/>
          </a:xfrm>
          <a:prstGeom prst="rect">
            <a:avLst/>
          </a:prstGeom>
          <a:solidFill>
            <a:srgbClr val="E2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94192" y="420624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F2937"/>
                </a:solidFill>
                <a:latin typeface="Malgun Gothic"/>
              </a:rPr>
              <a:t>③ 전력 피크·설비 가동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7091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계약전력 피크·유효전력 Zero 검출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판정은 수 초~수십 초 주기로 상시 수행되며, 조건이 해소되면 알림은 자동으로 해제됩니다.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CORE · 판정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3대 모니터링 축 상세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9167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128016" cy="1417320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7335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F2937"/>
                </a:solidFill>
                <a:latin typeface="Malgun Gothic"/>
              </a:rPr>
              <a:t>① 수신율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16712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B6B82"/>
                </a:solidFill>
                <a:latin typeface="Malgun Gothic"/>
              </a:rPr>
              <a:t>Reception Rate · 목표 95~100%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655064"/>
            <a:ext cx="7635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374151"/>
                </a:solidFill>
                <a:latin typeface="Malgun Gothic"/>
              </a:rPr>
              <a:t>포인트별 최근 수신 시각이 기대 주기×배수 이내이면 정상 수신으로 판정. 사업장/전체 수신율을 산출하고, 95% 미달·장기 미수신 포인트를 자동 알림. 일간·주간 추이 리포트 제공.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90088"/>
            <a:ext cx="1109167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128016" cy="1417320"/>
          </a:xfrm>
          <a:prstGeom prst="rect">
            <a:avLst/>
          </a:prstGeom>
          <a:solidFill>
            <a:srgbClr val="E087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2461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F2937"/>
                </a:solidFill>
                <a:latin typeface="Malgun Gothic"/>
              </a:rPr>
              <a:t>② 데이터 정합성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7398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B6B82"/>
                </a:solidFill>
                <a:latin typeface="Malgun Gothic"/>
              </a:rPr>
              <a:t>Data Integrity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227832"/>
            <a:ext cx="7635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374151"/>
                </a:solidFill>
                <a:latin typeface="Malgun Gothic"/>
              </a:rPr>
              <a:t>동일값 지속(통신 끊김·집계 오류 의심), 정상 범위 초과 이상치(센서·결선 이상), 데이터 끊김(미수신), 누적값 상태를 검증해 신뢰할 수 없는 값을 걸러냅니다.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62856"/>
            <a:ext cx="1109167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562856"/>
            <a:ext cx="128016" cy="1417320"/>
          </a:xfrm>
          <a:prstGeom prst="rect">
            <a:avLst/>
          </a:prstGeom>
          <a:solidFill>
            <a:srgbClr val="E2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1F2937"/>
                </a:solidFill>
                <a:latin typeface="Malgun Gothic"/>
              </a:rPr>
              <a:t>③ 전력 피크·설비 가동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3126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B6B82"/>
                </a:solidFill>
                <a:latin typeface="Malgun Gothic"/>
              </a:rPr>
              <a:t>Peak / Equipment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800600"/>
            <a:ext cx="7635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374151"/>
                </a:solidFill>
                <a:latin typeface="Malgun Gothic"/>
              </a:rPr>
              <a:t>계약/설정 전력 대비 초과율로 전력 피크를, 유효전력 Zero 지속시간으로 설비 가동 중단을 검출. 부하 시간대 피크를 사전 인지해 요금·리스크를 관리합니다.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FEATURES · 핵심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5가지 핵심 기능 + 표준 연동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6118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59" y="1709928"/>
            <a:ext cx="566928" cy="566928"/>
          </a:xfrm>
          <a:prstGeom prst="round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801368"/>
            <a:ext cx="566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728216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Malgun Gothic"/>
              </a:rPr>
              <a:t>통합 현황 &amp; 전국 지도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65176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전 사업장을 한 화면·한 지도에서 실시간 파악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417320"/>
            <a:ext cx="36118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99431" y="1709928"/>
            <a:ext cx="566928" cy="566928"/>
          </a:xfrm>
          <a:prstGeom prst="round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1801368"/>
            <a:ext cx="566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0952" y="1728216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Malgun Gothic"/>
              </a:rPr>
              <a:t>사업장별 상세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65176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설비/계측기 단위 현황과 원인 추적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3" y="1417320"/>
            <a:ext cx="36118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75904" y="1709928"/>
            <a:ext cx="566928" cy="566928"/>
          </a:xfrm>
          <a:prstGeom prst="round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1801368"/>
            <a:ext cx="566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7424" y="1728216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Malgun Gothic"/>
              </a:rPr>
              <a:t>알림 센터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265176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4대 유형·4단계 레벨 분류 + 자동 발송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31920"/>
            <a:ext cx="36118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59" y="4224528"/>
            <a:ext cx="566928" cy="566928"/>
          </a:xfrm>
          <a:prstGeom prst="round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566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242816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Malgun Gothic"/>
              </a:rPr>
              <a:t>이력·리포트 &amp; 예방정비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516636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추이 분석·재발 패턴·리포트 자동 생성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5112" y="3931920"/>
            <a:ext cx="36118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99431" y="4224528"/>
            <a:ext cx="566928" cy="566928"/>
          </a:xfrm>
          <a:prstGeom prst="round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9431" y="4315968"/>
            <a:ext cx="566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0952" y="4242816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Malgun Gothic"/>
              </a:rPr>
              <a:t>로그인·권한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516636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관제자/고객사 역할 분리 · 고객 투명 조회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1583" y="3931920"/>
            <a:ext cx="36118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375904" y="4224528"/>
            <a:ext cx="566928" cy="566928"/>
          </a:xfrm>
          <a:prstGeom prst="round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15968"/>
            <a:ext cx="566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7424" y="4242816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Malgun Gothic"/>
              </a:rPr>
              <a:t>표준 데이터 연동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516636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외부 소스 프로그램을 API 한 지점으로 연결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FEATURE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통합 현황 &amp; 전국 사업장 지도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219456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3A4B6B"/>
                </a:solidFill>
                <a:latin typeface="Malgun Gothic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0749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F6FB3"/>
                </a:solidFill>
                <a:latin typeface="Malgun Gothic"/>
              </a:rPr>
              <a:t>무엇을 하나요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전체 KPI — 사업장·계측기 수·전체 수신율·정상 수신·레벨별 알림 수 요약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전국 지도 — K5(송도)·K3(평택)·K4(광주) 위치·상태 색 표시, 이상 시 점멸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사업장 카드 — 수신율 막대(95~100% 목표)·정합성·SLA·24h 스파크라인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5초 주기 자동 갱신, 클릭 시 해당 사업장 상세로 이동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50749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343400"/>
            <a:ext cx="128016" cy="1828800"/>
          </a:xfrm>
          <a:prstGeom prst="rect">
            <a:avLst/>
          </a:prstGeom>
          <a:solidFill>
            <a:srgbClr val="1FA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537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A564"/>
                </a:solidFill>
                <a:latin typeface="Malgun Gothic"/>
              </a:rPr>
              <a:t>왜 넣었나요 (도입 가치)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56048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여러 사업장 개별 확인 시 누락·지연 → 통합 감시로 관제 효율 극대화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이상을 한눈에 조기 발견해 초동 대응 시간을 단축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24728" y="1970278"/>
            <a:ext cx="5861303" cy="3603243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2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997710"/>
            <a:ext cx="5806440" cy="354837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52160" y="6236208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B6B82"/>
                </a:solidFill>
                <a:latin typeface="Malgun Gothic"/>
              </a:rPr>
              <a:t>실제 화면 · 관제자 로그인 후 통합 현황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FEATURE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사업장별 상세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219456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3A4B6B"/>
                </a:solidFill>
                <a:latin typeface="Malgun Gothic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0749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F6FB3"/>
                </a:solidFill>
                <a:latin typeface="Malgun Gothic"/>
              </a:rPr>
              <a:t>무엇을 하나요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사업장(K5/K3/K4) 선택 시 해당 사업장만 상세 표시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설비/계측기 목록 — 종류·수신 상태·현재값·누적값·상태를 표로 제공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사업장 KPI(수신율·정합성·SLA)와 활성 알림을 심각도·경과시간과 함께 정리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50749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343400"/>
            <a:ext cx="128016" cy="1828800"/>
          </a:xfrm>
          <a:prstGeom prst="rect">
            <a:avLst/>
          </a:prstGeom>
          <a:solidFill>
            <a:srgbClr val="1FA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537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A564"/>
                </a:solidFill>
                <a:latin typeface="Malgun Gothic"/>
              </a:rPr>
              <a:t>왜 넣었나요 (도입 가치)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56048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이상의 원인을 설비 단위로 빠르게 좁혀 조치 시간 단축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고객·현장이 같은 화면을 보며 소통 — 커뮤니케이션 비용 절감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24728" y="1970278"/>
            <a:ext cx="5861303" cy="3603243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3-s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997710"/>
            <a:ext cx="5806440" cy="354837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52160" y="6236208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B6B82"/>
                </a:solidFill>
                <a:latin typeface="Malgun Gothic"/>
              </a:rPr>
              <a:t>실제 화면 · K5 사업장 상세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FEATURE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알림 센터 · 심각도 자동 분류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219456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3A4B6B"/>
                </a:solidFill>
                <a:latin typeface="Malgun Gothi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0749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F6FB3"/>
                </a:solidFill>
                <a:latin typeface="Malgun Gothic"/>
              </a:rPr>
              <a:t>무엇을 하나요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요약 카드 — 전체/긴급/경고/정보/정상/미확인 건수를 한눈에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유형 필터 탭 + 설비별·레벨별 필터·초기화, CSV 내보내기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표 — 상태·레벨·유형·설비·내용·발생시각·지속시간·확인·조치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상세 패널 — 기본정보·상세분석·추이 그래프·조치(완료/임시)·메모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50749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343400"/>
            <a:ext cx="128016" cy="1828800"/>
          </a:xfrm>
          <a:prstGeom prst="rect">
            <a:avLst/>
          </a:prstGeom>
          <a:solidFill>
            <a:srgbClr val="1FA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537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A564"/>
                </a:solidFill>
                <a:latin typeface="Malgun Gothic"/>
              </a:rPr>
              <a:t>왜 넣었나요 (도입 가치)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56048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알림이 뒤섞이면 우선순위 판단 곤란 → 즉시 대응/참고 대상 명확 구분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조치 이력·메모로 대응 근거와 재발 분석 자료 축적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94807" y="1344168"/>
            <a:ext cx="5721145" cy="4855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4-al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2239" y="1371600"/>
            <a:ext cx="5666281" cy="4800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52160" y="6236208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B6B82"/>
                </a:solidFill>
                <a:latin typeface="Malgun Gothic"/>
              </a:rPr>
              <a:t>실제 화면 · 알림 센터 + 상세 패널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DEFINITION · 알림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알림 유형과 심각도 판정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B2A4A"/>
                </a:solidFill>
                <a:latin typeface="Malgun Gothic"/>
              </a:rPr>
              <a:t>알림 4대 유형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37360"/>
            <a:ext cx="128016" cy="822960"/>
          </a:xfrm>
          <a:prstGeom prst="rect">
            <a:avLst/>
          </a:prstGeom>
          <a:solidFill>
            <a:srgbClr val="1FA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56231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F2937"/>
                </a:solidFill>
                <a:latin typeface="Malgun Gothic"/>
              </a:rPr>
              <a:t>데이터 정상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19456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B6B82"/>
                </a:solidFill>
                <a:latin typeface="Malgun Gothic"/>
              </a:rPr>
              <a:t>데이터가 정상 수신되는 상태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0048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670048"/>
            <a:ext cx="128016" cy="822960"/>
          </a:xfrm>
          <a:prstGeom prst="rect">
            <a:avLst/>
          </a:prstGeom>
          <a:solidFill>
            <a:srgbClr val="E087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8892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F2937"/>
                </a:solidFill>
                <a:latin typeface="Malgun Gothic"/>
              </a:rPr>
              <a:t>데이터 수신 비정상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127248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B6B82"/>
                </a:solidFill>
                <a:latin typeface="Malgun Gothic"/>
              </a:rPr>
              <a:t>동일값 지속·비정상 수치·데이터 끊김·누적값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02736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602736"/>
            <a:ext cx="128016" cy="822960"/>
          </a:xfrm>
          <a:prstGeom prst="rect">
            <a:avLst/>
          </a:prstGeom>
          <a:solidFill>
            <a:srgbClr val="E2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2160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F2937"/>
                </a:solidFill>
                <a:latin typeface="Malgun Gothic"/>
              </a:rPr>
              <a:t>전력 피크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4059935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B6B82"/>
                </a:solidFill>
                <a:latin typeface="Malgun Gothic"/>
              </a:rPr>
              <a:t>계약/설정 전력 초과 예측·발생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35424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35424"/>
            <a:ext cx="128016" cy="822960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5429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F2937"/>
                </a:solidFill>
                <a:latin typeface="Malgun Gothic"/>
              </a:rPr>
              <a:t>설비 가동 이상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992624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B6B82"/>
                </a:solidFill>
                <a:latin typeface="Malgun Gothic"/>
              </a:rPr>
              <a:t>비정상 정지·유효전력 Zero·고온 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5352" y="1280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B2A4A"/>
                </a:solidFill>
                <a:latin typeface="Malgun Gothic"/>
              </a:rPr>
              <a:t>4단계 레벨 &amp; 판정 예시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1737360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73952" y="1965960"/>
            <a:ext cx="365760" cy="365760"/>
          </a:xfrm>
          <a:prstGeom prst="roundRect">
            <a:avLst/>
          </a:prstGeom>
          <a:solidFill>
            <a:srgbClr val="E2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22592" y="1856231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F2937"/>
                </a:solidFill>
                <a:latin typeface="Malgun Gothic"/>
              </a:rPr>
              <a:t>긴급 (Critical)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19456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B6B82"/>
                </a:solidFill>
                <a:latin typeface="Malgun Gothic"/>
              </a:rPr>
              <a:t>수신율 &lt;80% · 데이터 끊김 · 피크 초과 · Zero 120분↑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2670048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73952" y="2898648"/>
            <a:ext cx="365760" cy="365760"/>
          </a:xfrm>
          <a:prstGeom prst="roundRect">
            <a:avLst/>
          </a:prstGeom>
          <a:solidFill>
            <a:srgbClr val="E087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22592" y="27889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F2937"/>
                </a:solidFill>
                <a:latin typeface="Malgun Gothic"/>
              </a:rPr>
              <a:t>경고 (Warning)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127248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B6B82"/>
                </a:solidFill>
                <a:latin typeface="Malgun Gothic"/>
              </a:rPr>
              <a:t>수신율 &lt;90% · 동일값 지속 · Zero 60분↑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45352" y="3602736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73952" y="3831335"/>
            <a:ext cx="365760" cy="365760"/>
          </a:xfrm>
          <a:prstGeom prst="round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22592" y="372160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F2937"/>
                </a:solidFill>
                <a:latin typeface="Malgun Gothic"/>
              </a:rPr>
              <a:t>정보 (Info)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059935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B6B82"/>
                </a:solidFill>
                <a:latin typeface="Malgun Gothic"/>
              </a:rPr>
              <a:t>수신율 &lt;95% · Zero 30분↑ · 경미한 이상치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5352" y="4535424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73952" y="4764024"/>
            <a:ext cx="365760" cy="365760"/>
          </a:xfrm>
          <a:prstGeom prst="roundRect">
            <a:avLst/>
          </a:prstGeom>
          <a:solidFill>
            <a:srgbClr val="1FA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22592" y="4654296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F2937"/>
                </a:solidFill>
                <a:latin typeface="Malgun Gothic"/>
              </a:rPr>
              <a:t>정상 (Normal)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4992624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B6B82"/>
                </a:solidFill>
                <a:latin typeface="Malgun Gothic"/>
              </a:rPr>
              <a:t>정상 수신·판정 이상 없음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623560"/>
            <a:ext cx="11091672" cy="658368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5623560"/>
            <a:ext cx="10469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algun Gothic"/>
              </a:rPr>
              <a:t>임계값은 운영 정책에 맞게 설정 파일 한 곳에서 조정할 수 있습니다. (예: 목표 수신율·Zero 지속시간)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PROCESS · 알림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알림 처리 흐름과 자동 발송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202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1920240" cy="457200"/>
          </a:xfrm>
          <a:prstGeom prst="round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algun Gothic"/>
              </a:rPr>
              <a:t>이상 감지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12848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B6B82"/>
                </a:solidFill>
                <a:latin typeface="Malgun Gothic"/>
              </a:rPr>
              <a:t>실시간 판정으로 포착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19202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2F6FB3"/>
                </a:solidFill>
                <a:latin typeface="Malgun Gothic"/>
              </a:rPr>
              <a:t>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600200"/>
            <a:ext cx="19202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600200"/>
            <a:ext cx="1920240" cy="457200"/>
          </a:xfrm>
          <a:prstGeom prst="roundRect">
            <a:avLst/>
          </a:prstGeom>
          <a:solidFill>
            <a:srgbClr val="E087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34640" y="166420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algun Gothic"/>
              </a:rPr>
              <a:t>자동 등급화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212848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B6B82"/>
                </a:solidFill>
                <a:latin typeface="Malgun Gothic"/>
              </a:rPr>
              <a:t>긴급/경고/정보 분류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19202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2F6FB3"/>
                </a:solidFill>
                <a:latin typeface="Malgun Gothic"/>
              </a:rPr>
              <a:t>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600200"/>
            <a:ext cx="19202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0" y="1600200"/>
            <a:ext cx="1920240" cy="457200"/>
          </a:xfrm>
          <a:prstGeom prst="roundRect">
            <a:avLst/>
          </a:prstGeom>
          <a:solidFill>
            <a:srgbClr val="E2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166420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algun Gothic"/>
              </a:rPr>
              <a:t>자동 발송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9" y="2212848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B6B82"/>
                </a:solidFill>
                <a:latin typeface="Malgun Gothic"/>
              </a:rPr>
              <a:t>심각도별 차등 발송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7" y="19202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2F6FB3"/>
                </a:solidFill>
                <a:latin typeface="Malgun Gothic"/>
              </a:rPr>
              <a:t>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1600200"/>
            <a:ext cx="19202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06640" y="1600200"/>
            <a:ext cx="1920240" cy="457200"/>
          </a:xfrm>
          <a:prstGeom prst="roundRect">
            <a:avLst/>
          </a:prstGeom>
          <a:solidFill>
            <a:srgbClr val="2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166420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algun Gothic"/>
              </a:rPr>
              <a:t>접수·조치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2212848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B6B82"/>
                </a:solidFill>
                <a:latin typeface="Malgun Gothic"/>
              </a:rPr>
              <a:t>완료/임시·메모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9448" y="19202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2F6FB3"/>
                </a:solidFill>
                <a:latin typeface="Malgun Gothic"/>
              </a:rPr>
              <a:t>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92640" y="1600200"/>
            <a:ext cx="19202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2640" y="1600200"/>
            <a:ext cx="1920240" cy="457200"/>
          </a:xfrm>
          <a:prstGeom prst="roundRect">
            <a:avLst/>
          </a:prstGeom>
          <a:solidFill>
            <a:srgbClr val="1FA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0" y="166420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algun Gothic"/>
              </a:rPr>
              <a:t>자동 해제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2212848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B6B82"/>
                </a:solidFill>
                <a:latin typeface="Malgun Gothic"/>
              </a:rPr>
              <a:t>조건 해소 시 종료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3832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B2A4A"/>
                </a:solidFill>
                <a:latin typeface="Malgun Gothic"/>
              </a:rPr>
              <a:t>심각도별 자동 발송 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86200"/>
            <a:ext cx="3611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06908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F6FB3"/>
                </a:solidFill>
                <a:latin typeface="Malgun Gothic"/>
              </a:rPr>
              <a:t>정보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4805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B6B82"/>
                </a:solidFill>
                <a:latin typeface="Malgun Gothic"/>
              </a:rPr>
              <a:t>이메일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5112" y="3886200"/>
            <a:ext cx="3611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25112" y="406908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E0870D"/>
                </a:solidFill>
                <a:latin typeface="Malgun Gothic"/>
              </a:rPr>
              <a:t>경고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25112" y="44805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B6B82"/>
                </a:solidFill>
                <a:latin typeface="Malgun Gothic"/>
              </a:rPr>
              <a:t>이메일 + 메신저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01583" y="3886200"/>
            <a:ext cx="3611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01583" y="406908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E2453C"/>
                </a:solidFill>
                <a:latin typeface="Malgun Gothic"/>
              </a:rPr>
              <a:t>긴급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01583" y="44805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B6B82"/>
                </a:solidFill>
                <a:latin typeface="Malgun Gothic"/>
              </a:rPr>
              <a:t>이메일 + 메신저 + SMS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349240"/>
            <a:ext cx="11091672" cy="77724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5349240"/>
            <a:ext cx="10469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algun Gothic"/>
              </a:rPr>
              <a:t>동일 이상은 중복 방지(dedup)로 한 번만 발생하고, 심각도 상승 시 재발송 · 해소 시 자동 해제되어 알림 피로를 줄입니다.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FEATURE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이력·리포트 &amp; 예방정비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219456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3A4B6B"/>
                </a:solidFill>
                <a:latin typeface="Malgun Gothic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0749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F6FB3"/>
                </a:solidFill>
                <a:latin typeface="Malgun Gothic"/>
              </a:rPr>
              <a:t>무엇을 하나요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24시간 수신율 추이(목표 95% 기준선)·심각도별 발생 추이 차트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재발 상위 설비·유형별 발생 분포 분석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재발 패턴 기반 예방정비 권고 자동 도출(설비·이력·조치·우선순위)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Excel(CSV)·PDF 리포트 내보내기 — 정기 보고 자동화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50749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343400"/>
            <a:ext cx="128016" cy="1828800"/>
          </a:xfrm>
          <a:prstGeom prst="rect">
            <a:avLst/>
          </a:prstGeom>
          <a:solidFill>
            <a:srgbClr val="1FA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537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A564"/>
                </a:solidFill>
                <a:latin typeface="Malgun Gothic"/>
              </a:rPr>
              <a:t>왜 넣었나요 (도입 가치)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56048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사후 대응을 넘어 사전 예방으로 — 반복 장애를 데이터로 식별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SLA 준수 현황을 수치·리포트로 증빙, 보고 부담 감소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9320" y="1344168"/>
            <a:ext cx="5272119" cy="4855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5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6752" y="1371600"/>
            <a:ext cx="5217255" cy="4800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52160" y="6236208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B6B82"/>
                </a:solidFill>
                <a:latin typeface="Malgun Gothic"/>
              </a:rPr>
              <a:t>실제 화면 · 이력·리포트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FEATURE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로그인 · 역할 권한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219456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3A4B6B"/>
                </a:solidFill>
                <a:latin typeface="Malgun Gothic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0749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F6FB3"/>
                </a:solidFill>
                <a:latin typeface="Malgun Gothic"/>
              </a:rPr>
              <a:t>무엇을 하나요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관제자(운영) — 전체 사업장 조회·알림 조치·리포트 관리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고객사(앰코) — 담당 사업장을 읽기 전용으로 투명 조회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F6FB3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역할 배지·로그아웃, 고객 뷰는 조치 영역이 읽기 전용으로 대체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50749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343400"/>
            <a:ext cx="128016" cy="1828800"/>
          </a:xfrm>
          <a:prstGeom prst="rect">
            <a:avLst/>
          </a:prstGeom>
          <a:solidFill>
            <a:srgbClr val="1FA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537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A564"/>
                </a:solidFill>
                <a:latin typeface="Malgun Gothic"/>
              </a:rPr>
              <a:t>왜 넣었나요 (도입 가치)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56048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고객에게 실시간 현황을 투명 공개해 신뢰 확보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1FA564"/>
                </a:solidFill>
                <a:latin typeface="Malgun Gothic"/>
              </a:rPr>
              <a:t>•  </a:t>
            </a:r>
            <a:r>
              <a:rPr sz="1150">
                <a:solidFill>
                  <a:srgbClr val="1F2937"/>
                </a:solidFill>
                <a:latin typeface="Malgun Gothic"/>
              </a:rPr>
              <a:t>조치 책임은 관제센터가 담당 — 책임 경계가 명확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24728" y="1970278"/>
            <a:ext cx="5861303" cy="3603243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997710"/>
            <a:ext cx="5806440" cy="354837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52160" y="6236208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5B6B82"/>
                </a:solidFill>
                <a:latin typeface="Malgun Gothic"/>
              </a:rPr>
              <a:t>실제 화면 · 역할 선택 로그인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INTEGRATION · 연동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기존 인프라에 쉽게 연결됩니다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Malgun Gothic"/>
              </a:rPr>
              <a:t>소스 프로그램은 표준 API 한 지점(POST /api/ingest)으로 계측값을 주기 전송하기만 하면 됩니다. 단건·배치 모두 지원합니다.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1091672" cy="1188720"/>
          </a:xfrm>
          <a:prstGeom prst="roundRect">
            <a:avLst/>
          </a:prstGeom>
          <a:solidFill>
            <a:srgbClr val="0E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예시 · 계측값 전송 (배치)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onsolas"/>
              </a:rPr>
              <a:t>POST /api/ingest   { "readings": [ {"point_key":"K5-PWR-001","value":812.5,"effective_power":812.5}, … ]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B2A4A"/>
                </a:solidFill>
                <a:latin typeface="Malgun Gothic"/>
              </a:rPr>
              <a:t>계측 포인트 등록 항목 (정확도 향상)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1109167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0347A"/>
                </a:solidFill>
                <a:latin typeface="Consolas"/>
              </a:rPr>
              <a:t>point_key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39" y="41148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고유 식별자 (필수)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1148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0347A"/>
                </a:solidFill>
                <a:latin typeface="Consolas"/>
              </a:rPr>
              <a:t>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1148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K5 / K3 / K4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5262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0347A"/>
                </a:solidFill>
                <a:latin typeface="Consolas"/>
              </a:rPr>
              <a:t>type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39" y="452628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power(전력) / flow(유량)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5262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0347A"/>
                </a:solidFill>
                <a:latin typeface="Consolas"/>
              </a:rPr>
              <a:t>expected_interval_sec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452628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기대 수신 주기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93776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0347A"/>
                </a:solidFill>
                <a:latin typeface="Consolas"/>
              </a:rPr>
              <a:t>min_normal / max_normal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39" y="493776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정상 범위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93776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0347A"/>
                </a:solidFill>
                <a:latin typeface="Consolas"/>
              </a:rPr>
              <a:t>peak_threshold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493776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전력 피크 임계(계약전력)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669280"/>
            <a:ext cx="11091672" cy="658368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669280"/>
            <a:ext cx="10469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</a:rPr>
              <a:t>ts 생략 시 서버 시각 저장 · 미등록 포인트 자동 등록 · 신규 사업장/베트남 CEMS 확장 용이 · H/W A/S는 협력사(가니·신아시스템) 연계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BENEFITS · 도입 효과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기대 효과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6974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2697480" cy="14630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2697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900" b="1">
                <a:solidFill>
                  <a:srgbClr val="2F6FB3"/>
                </a:solidFill>
                <a:latin typeface="Malgun Gothic"/>
              </a:rPr>
              <a:t>95~100%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5B6B82"/>
                </a:solidFill>
                <a:latin typeface="Malgun Gothic"/>
              </a:rPr>
              <a:t>수신율 관리 목표를 상시 자동 감시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554480"/>
            <a:ext cx="26974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554480"/>
            <a:ext cx="2697480" cy="146304"/>
          </a:xfrm>
          <a:prstGeom prst="rect">
            <a:avLst/>
          </a:prstGeom>
          <a:solidFill>
            <a:srgbClr val="E2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011680"/>
            <a:ext cx="2697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900" b="1">
                <a:solidFill>
                  <a:srgbClr val="E2453C"/>
                </a:solidFill>
                <a:latin typeface="Malgun Gothic"/>
              </a:rPr>
              <a:t>실시간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063240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5B6B82"/>
                </a:solidFill>
                <a:latin typeface="Malgun Gothic"/>
              </a:rPr>
              <a:t>이상 발생 시 자동 알림으로 대응 시간 단축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1554480"/>
            <a:ext cx="26974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79" y="1554480"/>
            <a:ext cx="2697480" cy="146304"/>
          </a:xfrm>
          <a:prstGeom prst="rect">
            <a:avLst/>
          </a:prstGeom>
          <a:solidFill>
            <a:srgbClr val="1FA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79" y="2011680"/>
            <a:ext cx="2697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900" b="1">
                <a:solidFill>
                  <a:srgbClr val="1FA564"/>
                </a:solidFill>
                <a:latin typeface="Malgun Gothic"/>
              </a:rPr>
              <a:t>예방정비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79" y="3063240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5B6B82"/>
                </a:solidFill>
                <a:latin typeface="Malgun Gothic"/>
              </a:rPr>
              <a:t>반복 장애를 데이터로 식별해 사전 예방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1554480"/>
            <a:ext cx="26974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400" y="1554480"/>
            <a:ext cx="2697480" cy="146304"/>
          </a:xfrm>
          <a:prstGeom prst="rect">
            <a:avLst/>
          </a:prstGeom>
          <a:solidFill>
            <a:srgbClr val="E087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2011680"/>
            <a:ext cx="2697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900" b="1">
                <a:solidFill>
                  <a:srgbClr val="E0870D"/>
                </a:solidFill>
                <a:latin typeface="Malgun Gothic"/>
              </a:rPr>
              <a:t>자동화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063240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5B6B82"/>
                </a:solidFill>
                <a:latin typeface="Malgun Gothic"/>
              </a:rPr>
              <a:t>SLA 준수 현황 가시화·리포트 자동 생성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11091672" cy="105156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029200"/>
            <a:ext cx="104698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algun Gothic"/>
              </a:rPr>
              <a:t>관제 인력은 이상에만 집중하고, 고객은 실시간으로 현황을 투명하게 확인합니다.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algun Gothic"/>
              </a:rPr>
              <a:t>데이터 수신·정합성 관점의 SLA를 수치로 관리·증빙할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ROADMAP · 단계적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단계적 적용 로드맵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3200400" cy="822960"/>
          </a:xfrm>
          <a:prstGeom prst="round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</a:rPr>
              <a:t>1차 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546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Malgun Gothic"/>
              </a:rPr>
              <a:t>K5 (송도) 파일럿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2336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시스템 개발·검증 · 수신율/정합성 기준 확립 · 파일럿 리포트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3108960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2F6FB3"/>
                </a:solidFill>
                <a:latin typeface="Malgun Gothic"/>
              </a:rPr>
              <a:t>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210312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62272" y="2103120"/>
            <a:ext cx="3200400" cy="822960"/>
          </a:xfrm>
          <a:prstGeom prst="roundRect">
            <a:avLst/>
          </a:prstGeom>
          <a:solidFill>
            <a:srgbClr val="3D8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2212848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</a:rPr>
              <a:t>2차 단계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31546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Malgun Gothic"/>
              </a:rPr>
              <a:t>K3 · K4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402336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검증 기준 표준화 · 전 사업장 확대 적용 · 통합 관제 정착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16951" y="3108960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2F6FB3"/>
                </a:solidFill>
                <a:latin typeface="Malgun Gothic"/>
              </a:rPr>
              <a:t>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3" y="210312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01583" y="2103120"/>
            <a:ext cx="3200400" cy="822960"/>
          </a:xfrm>
          <a:prstGeom prst="roundRect">
            <a:avLst/>
          </a:prstGeom>
          <a:solidFill>
            <a:srgbClr val="2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1583" y="2212848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</a:rPr>
              <a:t>3차 단계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3" y="31546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Malgun Gothic"/>
              </a:rPr>
              <a:t>베트남 · CEMS 연계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5904" y="402336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Malgun Gothic"/>
              </a:rPr>
              <a:t>해외 사업장 연계 · 환경 데이터(CEMS) 통합 · 고도화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* 사업장은 설정의 활성화 플래그로 관리하여, 검증 후 순차적으로 확장합니다.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91695" cy="54864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D8FD1"/>
                </a:solidFill>
                <a:latin typeface="Malgun Gothic"/>
              </a:rPr>
              <a:t>OPERATION · 운영·확장성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Malgun Gothic"/>
              </a:rPr>
              <a:t>안정적으로 운영하고 넓게 확장합니다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611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3611880" cy="109728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8288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>
                <a:solidFill>
                  <a:srgbClr val="1F2937"/>
                </a:solidFill>
                <a:latin typeface="Malgun Gothic"/>
              </a:rPr>
              <a:t>경량 저장·간편 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1460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SQLite 파일 저장으로 별도 DB 서버 없이 운영, 백업·이전이 쉽습니다.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1463040"/>
            <a:ext cx="3611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463040"/>
            <a:ext cx="3611880" cy="109728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>
                <a:solidFill>
                  <a:srgbClr val="1F2937"/>
                </a:solidFill>
                <a:latin typeface="Malgun Gothic"/>
              </a:rPr>
              <a:t>설정 한 곳 튜닝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51460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임계값·심각도·사업장·발송 채널을 설정 파일 한 곳에서 조정합니다.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463040"/>
            <a:ext cx="3611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3" y="1463040"/>
            <a:ext cx="3611880" cy="109728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18288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>
                <a:solidFill>
                  <a:srgbClr val="1F2937"/>
                </a:solidFill>
                <a:latin typeface="Malgun Gothic"/>
              </a:rPr>
              <a:t>발송 연동 지점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51460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문자 게이트웨이·메신저 Webhook·SMTP를 표준 지점에 연결하면 실발송.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40480"/>
            <a:ext cx="3611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40480"/>
            <a:ext cx="3611880" cy="109728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2062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>
                <a:solidFill>
                  <a:srgbClr val="1F2937"/>
                </a:solidFill>
                <a:latin typeface="Malgun Gothic"/>
              </a:rPr>
              <a:t>확장 용이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489204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신규 사업장·계측기 추가가 간단하고, 해외(베트남 CEMS)로 확장 가능.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5112" y="3840480"/>
            <a:ext cx="3611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5112" y="3840480"/>
            <a:ext cx="3611880" cy="109728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9431" y="42062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>
                <a:solidFill>
                  <a:srgbClr val="1F2937"/>
                </a:solidFill>
                <a:latin typeface="Malgun Gothic"/>
              </a:rPr>
              <a:t>역할 권한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89204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관제자/고객 뷰 분리. 실운영 시 계정·세션 기반 인증으로 확장.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3" y="3840480"/>
            <a:ext cx="3611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1583" y="3840480"/>
            <a:ext cx="3611880" cy="109728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5904" y="42062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>
                <a:solidFill>
                  <a:srgbClr val="1F2937"/>
                </a:solidFill>
                <a:latin typeface="Malgun Gothic"/>
              </a:rPr>
              <a:t>표준 웹 기술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89204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B6B82"/>
                </a:solidFill>
                <a:latin typeface="Malgun Gothic"/>
              </a:rPr>
              <a:t>설치 없이 브라우저로 접속. 사내 서버·클라우드 어디에나 배포 가능.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FEMS 원격 모니터링 시스템 · 프로그램 소개서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B6B82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algun Gothic"/>
              </a:rPr>
              <a:t>지금 바로 확인해 보세요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71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3D8FD1"/>
                </a:solidFill>
                <a:latin typeface="Malgun Gothic"/>
              </a:rPr>
              <a:t>공개 데모 (설치 없이 브라우저에서 접속)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474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onsolas"/>
              </a:rPr>
              <a:t>https://changbeomlee0816-png.github.io/FEMS/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43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C7D3E6"/>
                </a:solidFill>
                <a:latin typeface="Malgun Gothic"/>
              </a:rPr>
              <a:t>로그인 → 관제자/고객사 역할 선택 → 통합 현황·지도·알림·리포트 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9FB0CC"/>
                </a:solidFill>
                <a:latin typeface="Malgun Gothic"/>
              </a:rPr>
              <a:t>유호스트(YouHost) · FEMS 원격 모니터링 시스템 · 수신율·정합성 기반 통합 관제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